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Malav opens. We built a working secure patient records system on AWS, not a design exercise. Everything you see today is deployed and live in ca-central-1.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is the most expensive breach target in the world, and Canadian numbers are climbing. But the point we care about most is the third one: integrity is a patient safety issue, not just a privacy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takes this slide. Emphasise the bottom line — hiding a button is presentation, refusing the request is enforcement. We test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Malav. Walk the numbered flows: 1 login with MFA, 2 API call with a bearer token, 3 token validation, 4-7 encrypted reads and writes through KMS. Note the IoT zone is greyed out - designed,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Zawad. The project asked for four controls; we implemented all six. The pipeline order matters - authorisation happens before validation, so a role that cannot act never reaches the parsing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Malav. The key design decision: we hash the plaintext, not the ciphertext. That catches both a console edit of a name and a swapped encrypted blob. Hashing ciphertext would only catch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Zawad. We modelled threats before implementing, so mitigations drove the design rather than being retrofitted. Three threats remain open and we say so - MFA fatigue, audit immutability, per-identity rate limiting.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Cinderella. All 145 pass, unit and integration. Every test carries a STRIDE marker so the suite maps directly to the threat model. The last line matters: automated testing found something manual checking had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Malav drives the demo, Robert narrates. Order: login with MFA, doctor sees clinical notes, receptionist sees REDACTED, receptionist create returns 403, tamper a record in DynamoDB and read it back for the 409, restore it, then the audit log and CloudWatch alarms. Backup video ready if the network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Robert. This is the map of what the audience just watched, in case the demo runs long or something needs to be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Zawad. Explain the asymmetric thresholds - one integrity failure means data has already been altered, so there is no tolerance band. Denials are expected in normal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Cinderella. These were genuine obstacles on the day, not hypotheticals. The first one is our favourite - the encryption control was working exactly as designed, it just had not been told our own code was authorised.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Zawad covers the IoT column, Cinderella the limitations. Be ready for a question on why we did not build the IoT piece - the honest answer is scope control, and the controls being assessed were the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Malav closes. The strongest evidence was not that the controls worked when we tested them - it was how they behaved when things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members field questions. If asked what we would fix first: a global secondary index for search, then per-identity rate limiting, then S3 Object Lock for the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937760" cy="4937760"/>
          </a:xfrm>
          <a:prstGeom prst="ellipse">
            <a:avLst/>
          </a:prstGeom>
          <a:solidFill>
            <a:srgbClr val="065A82">
              <a:alpha val="45000"/>
            </a:srgbClr>
          </a:solidFill>
          <a:ln/>
        </p:spPr>
      </p:sp>
      <p:sp>
        <p:nvSpPr>
          <p:cNvPr id="3" name="Shape 1"/>
          <p:cNvSpPr/>
          <p:nvPr/>
        </p:nvSpPr>
        <p:spPr>
          <a:xfrm>
            <a:off x="10881360" y="4023360"/>
            <a:ext cx="3108960" cy="3108960"/>
          </a:xfrm>
          <a:prstGeom prst="ellipse">
            <a:avLst/>
          </a:prstGeom>
          <a:solidFill>
            <a:srgbClr val="1C7293">
              <a:alpha val="35000"/>
            </a:srgbClr>
          </a:solidFill>
          <a:ln/>
        </p:spPr>
      </p:sp>
      <p:sp>
        <p:nvSpPr>
          <p:cNvPr id="4" name="Text 2"/>
          <p:cNvSpPr/>
          <p:nvPr/>
        </p:nvSpPr>
        <p:spPr>
          <a:xfrm>
            <a:off x="822960" y="1828800"/>
            <a:ext cx="859536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SecureHealth</a:t>
            </a:r>
            <a:endParaRPr lang="en-US" sz="5400" dirty="0"/>
          </a:p>
        </p:txBody>
      </p:sp>
      <p:sp>
        <p:nvSpPr>
          <p:cNvPr id="5" name="Text 3"/>
          <p:cNvSpPr/>
          <p:nvPr/>
        </p:nvSpPr>
        <p:spPr>
          <a:xfrm>
            <a:off x="822960" y="2880360"/>
            <a:ext cx="8138160" cy="822960"/>
          </a:xfrm>
          <a:prstGeom prst="rect">
            <a:avLst/>
          </a:prstGeom>
          <a:noFill/>
          <a:ln/>
        </p:spPr>
        <p:txBody>
          <a:bodyPr wrap="square" lIns="0" tIns="0" rIns="0" bIns="0" rtlCol="0" anchor="ctr"/>
          <a:lstStyle/>
          <a:p>
            <a:pPr indent="0" marL="0">
              <a:lnSpc>
                <a:spcPts val="2400"/>
              </a:lnSpc>
              <a:buNone/>
            </a:pPr>
            <a:r>
              <a:rPr lang="en-US" sz="1600" dirty="0">
                <a:solidFill>
                  <a:srgbClr val="C9D6E2"/>
                </a:solidFill>
                <a:latin typeface="Calibri" pitchFamily="34" charset="0"/>
                <a:ea typeface="Calibri" pitchFamily="34" charset="-122"/>
                <a:cs typeface="Calibri" pitchFamily="34" charset="-120"/>
              </a:rPr>
              <a:t>An AWS-based secure patient records portal with role-based access control, encrypted storage and verifiable integrity</a:t>
            </a:r>
            <a:endParaRPr lang="en-US" sz="1600" dirty="0"/>
          </a:p>
        </p:txBody>
      </p:sp>
      <p:sp>
        <p:nvSpPr>
          <p:cNvPr id="6" name="Shape 4"/>
          <p:cNvSpPr/>
          <p:nvPr/>
        </p:nvSpPr>
        <p:spPr>
          <a:xfrm>
            <a:off x="841248" y="3913632"/>
            <a:ext cx="1005840" cy="32004"/>
          </a:xfrm>
          <a:prstGeom prst="rect">
            <a:avLst/>
          </a:prstGeom>
          <a:solidFill>
            <a:srgbClr val="1C7293"/>
          </a:solidFill>
          <a:ln/>
        </p:spPr>
      </p:sp>
      <p:sp>
        <p:nvSpPr>
          <p:cNvPr id="7" name="Text 5"/>
          <p:cNvSpPr/>
          <p:nvPr/>
        </p:nvSpPr>
        <p:spPr>
          <a:xfrm>
            <a:off x="822960" y="4224528"/>
            <a:ext cx="8595360" cy="274320"/>
          </a:xfrm>
          <a:prstGeom prst="rect">
            <a:avLst/>
          </a:prstGeom>
          <a:noFill/>
          <a:ln/>
        </p:spPr>
        <p:txBody>
          <a:bodyPr wrap="square" lIns="0" tIns="0" rIns="0" bIns="0" rtlCol="0" anchor="ctr"/>
          <a:lstStyle/>
          <a:p>
            <a:pPr indent="0" marL="0">
              <a:buNone/>
            </a:pPr>
            <a:r>
              <a:rPr lang="en-US" sz="1300" dirty="0">
                <a:solidFill>
                  <a:srgbClr val="9FB3C6"/>
                </a:solidFill>
                <a:latin typeface="Calibri" pitchFamily="34" charset="0"/>
                <a:ea typeface="Calibri" pitchFamily="34" charset="-122"/>
                <a:cs typeface="Calibri" pitchFamily="34" charset="-120"/>
              </a:rPr>
              <a:t>Malav Mehta   ·   Robert Ruiz Villalta   ·   Zawad Hossain   ·   Cinderella Akash Gill</a:t>
            </a:r>
            <a:endParaRPr lang="en-US" sz="1300" dirty="0"/>
          </a:p>
        </p:txBody>
      </p:sp>
      <p:sp>
        <p:nvSpPr>
          <p:cNvPr id="8" name="Text 6"/>
          <p:cNvSpPr/>
          <p:nvPr/>
        </p:nvSpPr>
        <p:spPr>
          <a:xfrm>
            <a:off x="822960" y="4572000"/>
            <a:ext cx="8595360" cy="274320"/>
          </a:xfrm>
          <a:prstGeom prst="rect">
            <a:avLst/>
          </a:prstGeom>
          <a:noFill/>
          <a:ln/>
        </p:spPr>
        <p:txBody>
          <a:bodyPr wrap="square" lIns="0" tIns="0" rIns="0" bIns="0" rtlCol="0" anchor="ctr"/>
          <a:lstStyle/>
          <a:p>
            <a:pPr indent="0" marL="0">
              <a:buNone/>
            </a:pPr>
            <a:r>
              <a:rPr lang="en-US" sz="1200" dirty="0">
                <a:solidFill>
                  <a:srgbClr val="7C90A4"/>
                </a:solidFill>
                <a:latin typeface="Calibri" pitchFamily="34" charset="0"/>
                <a:ea typeface="Calibri" pitchFamily="34" charset="-122"/>
                <a:cs typeface="Calibri" pitchFamily="34" charset="-120"/>
              </a:rPr>
              <a:t>MCSC-6002-RNA  ·  Professor Timothy Wong  ·  Humber Polytechnic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Small clinics hold the most sensitive data with the weakest defences</a:t>
            </a:r>
            <a:endParaRPr lang="en-US" sz="3000" dirty="0"/>
          </a:p>
        </p:txBody>
      </p:sp>
      <p:sp>
        <p:nvSpPr>
          <p:cNvPr id="4" name="Shape 2"/>
          <p:cNvSpPr/>
          <p:nvPr/>
        </p:nvSpPr>
        <p:spPr>
          <a:xfrm>
            <a:off x="548640" y="1691640"/>
            <a:ext cx="3520440" cy="1828800"/>
          </a:xfrm>
          <a:prstGeom prst="roundRect">
            <a:avLst>
              <a:gd name="adj" fmla="val 4000"/>
            </a:avLst>
          </a:prstGeom>
          <a:solidFill>
            <a:srgbClr val="EEF4F8"/>
          </a:solidFill>
          <a:ln w="12700">
            <a:solidFill>
              <a:srgbClr val="DCE7EF"/>
            </a:solidFill>
            <a:prstDash val="solid"/>
          </a:ln>
        </p:spPr>
      </p:sp>
      <p:sp>
        <p:nvSpPr>
          <p:cNvPr id="5" name="Text 3"/>
          <p:cNvSpPr/>
          <p:nvPr/>
        </p:nvSpPr>
        <p:spPr>
          <a:xfrm>
            <a:off x="777240" y="1874520"/>
            <a:ext cx="3063240"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US$7.42M</a:t>
            </a:r>
            <a:endParaRPr lang="en-US" sz="3400" dirty="0"/>
          </a:p>
        </p:txBody>
      </p:sp>
      <p:sp>
        <p:nvSpPr>
          <p:cNvPr id="6" name="Text 4"/>
          <p:cNvSpPr/>
          <p:nvPr/>
        </p:nvSpPr>
        <p:spPr>
          <a:xfrm>
            <a:off x="777240" y="2606040"/>
            <a:ext cx="3108960" cy="86868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Average cost of a healthcare</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data breach — highest of any</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industry (IBM, 2025)</a:t>
            </a:r>
            <a:endParaRPr lang="en-US" sz="1150" dirty="0"/>
          </a:p>
        </p:txBody>
      </p:sp>
      <p:sp>
        <p:nvSpPr>
          <p:cNvPr id="7" name="Shape 5"/>
          <p:cNvSpPr/>
          <p:nvPr/>
        </p:nvSpPr>
        <p:spPr>
          <a:xfrm>
            <a:off x="4343400" y="1691640"/>
            <a:ext cx="3520440" cy="1828800"/>
          </a:xfrm>
          <a:prstGeom prst="roundRect">
            <a:avLst>
              <a:gd name="adj" fmla="val 4000"/>
            </a:avLst>
          </a:prstGeom>
          <a:solidFill>
            <a:srgbClr val="EEF4F8"/>
          </a:solidFill>
          <a:ln w="12700">
            <a:solidFill>
              <a:srgbClr val="DCE7EF"/>
            </a:solidFill>
            <a:prstDash val="solid"/>
          </a:ln>
        </p:spPr>
      </p:sp>
      <p:sp>
        <p:nvSpPr>
          <p:cNvPr id="8" name="Text 6"/>
          <p:cNvSpPr/>
          <p:nvPr/>
        </p:nvSpPr>
        <p:spPr>
          <a:xfrm>
            <a:off x="4572000" y="1874520"/>
            <a:ext cx="3063240"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42%</a:t>
            </a:r>
            <a:endParaRPr lang="en-US" sz="3400" dirty="0"/>
          </a:p>
        </p:txBody>
      </p:sp>
      <p:sp>
        <p:nvSpPr>
          <p:cNvPr id="9" name="Text 7"/>
          <p:cNvSpPr/>
          <p:nvPr/>
        </p:nvSpPr>
        <p:spPr>
          <a:xfrm>
            <a:off x="4572000" y="2606040"/>
            <a:ext cx="3108960" cy="86868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of Canadian organizations had a</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data breach in the past year,</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up from 29% in 2022 (CIRA, 2025)</a:t>
            </a:r>
            <a:endParaRPr lang="en-US" sz="1150" dirty="0"/>
          </a:p>
        </p:txBody>
      </p:sp>
      <p:sp>
        <p:nvSpPr>
          <p:cNvPr id="10" name="Shape 8"/>
          <p:cNvSpPr/>
          <p:nvPr/>
        </p:nvSpPr>
        <p:spPr>
          <a:xfrm>
            <a:off x="8138160" y="1691640"/>
            <a:ext cx="3520440" cy="1828800"/>
          </a:xfrm>
          <a:prstGeom prst="roundRect">
            <a:avLst>
              <a:gd name="adj" fmla="val 4000"/>
            </a:avLst>
          </a:prstGeom>
          <a:solidFill>
            <a:srgbClr val="EEF4F8"/>
          </a:solidFill>
          <a:ln w="12700">
            <a:solidFill>
              <a:srgbClr val="DCE7EF"/>
            </a:solidFill>
            <a:prstDash val="solid"/>
          </a:ln>
        </p:spPr>
      </p:sp>
      <p:sp>
        <p:nvSpPr>
          <p:cNvPr id="11" name="Text 9"/>
          <p:cNvSpPr/>
          <p:nvPr/>
        </p:nvSpPr>
        <p:spPr>
          <a:xfrm>
            <a:off x="8366760" y="1874520"/>
            <a:ext cx="3063240" cy="68580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+26%</a:t>
            </a:r>
            <a:endParaRPr lang="en-US" sz="3400" dirty="0"/>
          </a:p>
        </p:txBody>
      </p:sp>
      <p:sp>
        <p:nvSpPr>
          <p:cNvPr id="12" name="Text 10"/>
          <p:cNvSpPr/>
          <p:nvPr/>
        </p:nvSpPr>
        <p:spPr>
          <a:xfrm>
            <a:off x="8366760" y="2606040"/>
            <a:ext cx="3108960" cy="86868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average yearly growth in known</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Canadian ransomware incidents,</a:t>
            </a:r>
            <a:endParaRPr lang="en-US" sz="1150" dirty="0"/>
          </a:p>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2021–2024 (Cyber Centre, 2026)</a:t>
            </a:r>
            <a:endParaRPr lang="en-US" sz="1150" dirty="0"/>
          </a:p>
        </p:txBody>
      </p:sp>
      <p:sp>
        <p:nvSpPr>
          <p:cNvPr id="13" name="Text 11"/>
          <p:cNvSpPr/>
          <p:nvPr/>
        </p:nvSpPr>
        <p:spPr>
          <a:xfrm>
            <a:off x="548640" y="3840480"/>
            <a:ext cx="548640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Why it matters beyond the cost</a:t>
            </a:r>
            <a:endParaRPr lang="en-US" sz="1500" dirty="0"/>
          </a:p>
        </p:txBody>
      </p:sp>
      <p:sp>
        <p:nvSpPr>
          <p:cNvPr id="14" name="Text 12"/>
          <p:cNvSpPr/>
          <p:nvPr/>
        </p:nvSpPr>
        <p:spPr>
          <a:xfrm>
            <a:off x="548640" y="4224528"/>
            <a:ext cx="11064240" cy="1371600"/>
          </a:xfrm>
          <a:prstGeom prst="rect">
            <a:avLst/>
          </a:prstGeom>
          <a:noFill/>
          <a:ln/>
        </p:spPr>
        <p:txBody>
          <a:bodyPr wrap="square" lIns="0" tIns="0" rIns="0" bIns="0" rtlCol="0" anchor="ctr"/>
          <a:lstStyle/>
          <a:p>
            <a:pPr marL="342900" indent="-342900">
              <a:lnSpc>
                <a:spcPts val="1800"/>
              </a:lnSpc>
              <a:spcAft>
                <a:spcPts val="800"/>
              </a:spcAft>
              <a:buSzPct val="100000"/>
              <a:buChar char="•"/>
            </a:pPr>
            <a:r>
              <a:rPr lang="en-US" sz="1350" dirty="0">
                <a:solidFill>
                  <a:srgbClr val="1B2430"/>
                </a:solidFill>
                <a:latin typeface="Calibri" pitchFamily="34" charset="0"/>
                <a:ea typeface="Calibri" pitchFamily="34" charset="-122"/>
                <a:cs typeface="Calibri" pitchFamily="34" charset="-120"/>
              </a:rPr>
              <a:t>Health data cannot be reissued like a credit card — it keeps its value to attackers indefinitely</a:t>
            </a:r>
            <a:endParaRPr lang="en-US" sz="1350" dirty="0"/>
          </a:p>
          <a:p>
            <a:pPr marL="342900" indent="-342900">
              <a:lnSpc>
                <a:spcPts val="1800"/>
              </a:lnSpc>
              <a:spcAft>
                <a:spcPts val="800"/>
              </a:spcAft>
              <a:buSzPct val="100000"/>
              <a:buChar char="•"/>
            </a:pPr>
            <a:r>
              <a:rPr lang="en-US" sz="1350" dirty="0">
                <a:solidFill>
                  <a:srgbClr val="1B2430"/>
                </a:solidFill>
                <a:latin typeface="Calibri" pitchFamily="34" charset="0"/>
                <a:ea typeface="Calibri" pitchFamily="34" charset="-122"/>
                <a:cs typeface="Calibri" pitchFamily="34" charset="-120"/>
              </a:rPr>
              <a:t>PHIPA and PIPEDA require access controls and audit trails: weak protection is a compliance failure, not only a technical one</a:t>
            </a:r>
            <a:endParaRPr lang="en-US" sz="1350" dirty="0"/>
          </a:p>
          <a:p>
            <a:pPr marL="342900" indent="-342900">
              <a:lnSpc>
                <a:spcPts val="1800"/>
              </a:lnSpc>
              <a:spcAft>
                <a:spcPts val="800"/>
              </a:spcAft>
              <a:buSzPct val="100000"/>
              <a:buChar char="•"/>
            </a:pPr>
            <a:r>
              <a:rPr lang="en-US" sz="1350" dirty="0">
                <a:solidFill>
                  <a:srgbClr val="1B2430"/>
                </a:solidFill>
                <a:latin typeface="Calibri" pitchFamily="34" charset="0"/>
                <a:ea typeface="Calibri" pitchFamily="34" charset="-122"/>
                <a:cs typeface="Calibri" pitchFamily="34" charset="-120"/>
              </a:rPr>
              <a:t>Record integrity is patient safety — an undetected change to an allergy or dosage causes direct physical harm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WHAT WE BUILT</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A clinic portal where every control is enforced on the server</a:t>
            </a:r>
            <a:endParaRPr lang="en-US" sz="3000" dirty="0"/>
          </a:p>
        </p:txBody>
      </p:sp>
      <p:sp>
        <p:nvSpPr>
          <p:cNvPr id="4" name="Shape 2"/>
          <p:cNvSpPr/>
          <p:nvPr/>
        </p:nvSpPr>
        <p:spPr>
          <a:xfrm>
            <a:off x="548640" y="1600200"/>
            <a:ext cx="5486400" cy="2788920"/>
          </a:xfrm>
          <a:prstGeom prst="roundRect">
            <a:avLst>
              <a:gd name="adj" fmla="val 2623"/>
            </a:avLst>
          </a:prstGeom>
          <a:solidFill>
            <a:srgbClr val="EEF4F8"/>
          </a:solidFill>
          <a:ln w="12700">
            <a:solidFill>
              <a:srgbClr val="DCE7EF"/>
            </a:solidFill>
            <a:prstDash val="solid"/>
          </a:ln>
        </p:spPr>
      </p:sp>
      <p:sp>
        <p:nvSpPr>
          <p:cNvPr id="5" name="Text 3"/>
          <p:cNvSpPr/>
          <p:nvPr/>
        </p:nvSpPr>
        <p:spPr>
          <a:xfrm>
            <a:off x="868680" y="1810512"/>
            <a:ext cx="493776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The system</a:t>
            </a:r>
            <a:endParaRPr lang="en-US" sz="1500" dirty="0"/>
          </a:p>
        </p:txBody>
      </p:sp>
      <p:sp>
        <p:nvSpPr>
          <p:cNvPr id="6" name="Text 4"/>
          <p:cNvSpPr/>
          <p:nvPr/>
        </p:nvSpPr>
        <p:spPr>
          <a:xfrm>
            <a:off x="868680" y="2212848"/>
            <a:ext cx="4892040" cy="2011680"/>
          </a:xfrm>
          <a:prstGeom prst="rect">
            <a:avLst/>
          </a:prstGeom>
          <a:noFill/>
          <a:ln/>
        </p:spPr>
        <p:txBody>
          <a:bodyPr wrap="square" lIns="0" tIns="0" rIns="0" bIns="0" rtlCol="0" anchor="ctr"/>
          <a:lstStyle/>
          <a:p>
            <a:pPr marL="342900" indent="-342900">
              <a:lnSpc>
                <a:spcPts val="17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Register, search, view and update patient records</a:t>
            </a:r>
            <a:endParaRPr lang="en-US" sz="1300" dirty="0"/>
          </a:p>
          <a:p>
            <a:pPr marL="342900" indent="-342900">
              <a:lnSpc>
                <a:spcPts val="17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Serverless AWS stack, deployed and running in ca-central-1</a:t>
            </a:r>
            <a:endParaRPr lang="en-US" sz="1300" dirty="0"/>
          </a:p>
          <a:p>
            <a:pPr marL="342900" indent="-342900">
              <a:lnSpc>
                <a:spcPts val="17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Next.js dashboard, API Gateway, Lambda, DynamoDB, KMS, Cognito</a:t>
            </a:r>
            <a:endParaRPr lang="en-US" sz="1300" dirty="0"/>
          </a:p>
          <a:p>
            <a:pPr marL="342900" indent="-342900">
              <a:lnSpc>
                <a:spcPts val="1700"/>
              </a:lnSpc>
              <a:spcAft>
                <a:spcPts val="800"/>
              </a:spcAft>
              <a:buSzPct val="100000"/>
              <a:buChar char="•"/>
            </a:pPr>
            <a:r>
              <a:rPr lang="en-US" sz="1300" dirty="0">
                <a:solidFill>
                  <a:srgbClr val="1B2430"/>
                </a:solidFill>
                <a:latin typeface="Calibri" pitchFamily="34" charset="0"/>
                <a:ea typeface="Calibri" pitchFamily="34" charset="-122"/>
                <a:cs typeface="Calibri" pitchFamily="34" charset="-120"/>
              </a:rPr>
              <a:t>Entire stack defined as infrastructure as code</a:t>
            </a:r>
            <a:endParaRPr lang="en-US" sz="1300" dirty="0"/>
          </a:p>
        </p:txBody>
      </p:sp>
      <p:sp>
        <p:nvSpPr>
          <p:cNvPr id="7" name="Text 5"/>
          <p:cNvSpPr/>
          <p:nvPr/>
        </p:nvSpPr>
        <p:spPr>
          <a:xfrm>
            <a:off x="6446520" y="1810512"/>
            <a:ext cx="512064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Three roles, enforced in the API</a:t>
            </a:r>
            <a:endParaRPr lang="en-US" sz="1500" dirty="0"/>
          </a:p>
        </p:txBody>
      </p:sp>
      <p:sp>
        <p:nvSpPr>
          <p:cNvPr id="8" name="Shape 6"/>
          <p:cNvSpPr/>
          <p:nvPr/>
        </p:nvSpPr>
        <p:spPr>
          <a:xfrm>
            <a:off x="6446520" y="2276856"/>
            <a:ext cx="274320" cy="274320"/>
          </a:xfrm>
          <a:prstGeom prst="ellipse">
            <a:avLst/>
          </a:prstGeom>
          <a:solidFill>
            <a:srgbClr val="065A82"/>
          </a:solidFill>
          <a:ln/>
        </p:spPr>
      </p:sp>
      <p:sp>
        <p:nvSpPr>
          <p:cNvPr id="9" name="Text 7"/>
          <p:cNvSpPr/>
          <p:nvPr/>
        </p:nvSpPr>
        <p:spPr>
          <a:xfrm>
            <a:off x="6858000" y="2240280"/>
            <a:ext cx="4754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Admin</a:t>
            </a:r>
            <a:endParaRPr lang="en-US" sz="1350" dirty="0"/>
          </a:p>
        </p:txBody>
      </p:sp>
      <p:sp>
        <p:nvSpPr>
          <p:cNvPr id="10" name="Text 8"/>
          <p:cNvSpPr/>
          <p:nvPr/>
        </p:nvSpPr>
        <p:spPr>
          <a:xfrm>
            <a:off x="6858000" y="2523744"/>
            <a:ext cx="4709160" cy="411480"/>
          </a:xfrm>
          <a:prstGeom prst="rect">
            <a:avLst/>
          </a:prstGeom>
          <a:noFill/>
          <a:ln/>
        </p:spPr>
        <p:txBody>
          <a:bodyPr wrap="square" lIns="0" tIns="0" rIns="0" bIns="0" rtlCol="0" anchor="ctr"/>
          <a:lstStyle/>
          <a:p>
            <a:pPr indent="0" marL="0">
              <a:lnSpc>
                <a:spcPts val="1500"/>
              </a:lnSpc>
              <a:buNone/>
            </a:pPr>
            <a:r>
              <a:rPr lang="en-US" sz="1200" dirty="0">
                <a:solidFill>
                  <a:srgbClr val="5B6B7A"/>
                </a:solidFill>
                <a:latin typeface="Calibri" pitchFamily="34" charset="0"/>
                <a:ea typeface="Calibri" pitchFamily="34" charset="-122"/>
                <a:cs typeface="Calibri" pitchFamily="34" charset="-120"/>
              </a:rPr>
              <a:t>Full record access, plus the audit log</a:t>
            </a:r>
            <a:endParaRPr lang="en-US" sz="1200" dirty="0"/>
          </a:p>
        </p:txBody>
      </p:sp>
      <p:sp>
        <p:nvSpPr>
          <p:cNvPr id="11" name="Shape 9"/>
          <p:cNvSpPr/>
          <p:nvPr/>
        </p:nvSpPr>
        <p:spPr>
          <a:xfrm>
            <a:off x="6446520" y="3026664"/>
            <a:ext cx="274320" cy="274320"/>
          </a:xfrm>
          <a:prstGeom prst="ellipse">
            <a:avLst/>
          </a:prstGeom>
          <a:solidFill>
            <a:srgbClr val="1C7293"/>
          </a:solidFill>
          <a:ln/>
        </p:spPr>
      </p:sp>
      <p:sp>
        <p:nvSpPr>
          <p:cNvPr id="12" name="Text 10"/>
          <p:cNvSpPr/>
          <p:nvPr/>
        </p:nvSpPr>
        <p:spPr>
          <a:xfrm>
            <a:off x="6858000" y="2990088"/>
            <a:ext cx="4754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Doctor</a:t>
            </a:r>
            <a:endParaRPr lang="en-US" sz="1350" dirty="0"/>
          </a:p>
        </p:txBody>
      </p:sp>
      <p:sp>
        <p:nvSpPr>
          <p:cNvPr id="13" name="Text 11"/>
          <p:cNvSpPr/>
          <p:nvPr/>
        </p:nvSpPr>
        <p:spPr>
          <a:xfrm>
            <a:off x="6858000" y="3273552"/>
            <a:ext cx="4709160" cy="411480"/>
          </a:xfrm>
          <a:prstGeom prst="rect">
            <a:avLst/>
          </a:prstGeom>
          <a:noFill/>
          <a:ln/>
        </p:spPr>
        <p:txBody>
          <a:bodyPr wrap="square" lIns="0" tIns="0" rIns="0" bIns="0" rtlCol="0" anchor="ctr"/>
          <a:lstStyle/>
          <a:p>
            <a:pPr indent="0" marL="0">
              <a:lnSpc>
                <a:spcPts val="1500"/>
              </a:lnSpc>
              <a:buNone/>
            </a:pPr>
            <a:r>
              <a:rPr lang="en-US" sz="1200" dirty="0">
                <a:solidFill>
                  <a:srgbClr val="5B6B7A"/>
                </a:solidFill>
                <a:latin typeface="Calibri" pitchFamily="34" charset="0"/>
                <a:ea typeface="Calibri" pitchFamily="34" charset="-122"/>
                <a:cs typeface="Calibri" pitchFamily="34" charset="-120"/>
              </a:rPr>
              <a:t>Full clinical access: create, read, update</a:t>
            </a:r>
            <a:endParaRPr lang="en-US" sz="1200" dirty="0"/>
          </a:p>
        </p:txBody>
      </p:sp>
      <p:sp>
        <p:nvSpPr>
          <p:cNvPr id="14" name="Shape 12"/>
          <p:cNvSpPr/>
          <p:nvPr/>
        </p:nvSpPr>
        <p:spPr>
          <a:xfrm>
            <a:off x="6446520" y="3776472"/>
            <a:ext cx="274320" cy="274320"/>
          </a:xfrm>
          <a:prstGeom prst="ellipse">
            <a:avLst/>
          </a:prstGeom>
          <a:solidFill>
            <a:srgbClr val="5B6B7A"/>
          </a:solidFill>
          <a:ln/>
        </p:spPr>
      </p:sp>
      <p:sp>
        <p:nvSpPr>
          <p:cNvPr id="15" name="Text 13"/>
          <p:cNvSpPr/>
          <p:nvPr/>
        </p:nvSpPr>
        <p:spPr>
          <a:xfrm>
            <a:off x="6858000" y="3739896"/>
            <a:ext cx="4754880" cy="274320"/>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Receptionist</a:t>
            </a:r>
            <a:endParaRPr lang="en-US" sz="1350" dirty="0"/>
          </a:p>
        </p:txBody>
      </p:sp>
      <p:sp>
        <p:nvSpPr>
          <p:cNvPr id="16" name="Text 14"/>
          <p:cNvSpPr/>
          <p:nvPr/>
        </p:nvSpPr>
        <p:spPr>
          <a:xfrm>
            <a:off x="6858000" y="4023360"/>
            <a:ext cx="4709160" cy="411480"/>
          </a:xfrm>
          <a:prstGeom prst="rect">
            <a:avLst/>
          </a:prstGeom>
          <a:noFill/>
          <a:ln/>
        </p:spPr>
        <p:txBody>
          <a:bodyPr wrap="square" lIns="0" tIns="0" rIns="0" bIns="0" rtlCol="0" anchor="ctr"/>
          <a:lstStyle/>
          <a:p>
            <a:pPr indent="0" marL="0">
              <a:lnSpc>
                <a:spcPts val="1500"/>
              </a:lnSpc>
              <a:buNone/>
            </a:pPr>
            <a:r>
              <a:rPr lang="en-US" sz="1200" dirty="0">
                <a:solidFill>
                  <a:srgbClr val="5B6B7A"/>
                </a:solidFill>
                <a:latin typeface="Calibri" pitchFamily="34" charset="0"/>
                <a:ea typeface="Calibri" pitchFamily="34" charset="-122"/>
                <a:cs typeface="Calibri" pitchFamily="34" charset="-120"/>
              </a:rPr>
              <a:t>Demographics only — clinical fields redacted, writes refused</a:t>
            </a:r>
            <a:endParaRPr lang="en-US" sz="1200" dirty="0"/>
          </a:p>
        </p:txBody>
      </p:sp>
      <p:sp>
        <p:nvSpPr>
          <p:cNvPr id="17" name="Shape 15"/>
          <p:cNvSpPr/>
          <p:nvPr/>
        </p:nvSpPr>
        <p:spPr>
          <a:xfrm>
            <a:off x="548640" y="4617720"/>
            <a:ext cx="11064240" cy="777240"/>
          </a:xfrm>
          <a:prstGeom prst="roundRect">
            <a:avLst>
              <a:gd name="adj" fmla="val 7059"/>
            </a:avLst>
          </a:prstGeom>
          <a:solidFill>
            <a:srgbClr val="21295C"/>
          </a:solidFill>
          <a:ln/>
        </p:spPr>
      </p:sp>
      <p:sp>
        <p:nvSpPr>
          <p:cNvPr id="18" name="Text 16"/>
          <p:cNvSpPr/>
          <p:nvPr/>
        </p:nvSpPr>
        <p:spPr>
          <a:xfrm>
            <a:off x="868680" y="4617720"/>
            <a:ext cx="10424160" cy="777240"/>
          </a:xfrm>
          <a:prstGeom prst="rect">
            <a:avLst/>
          </a:prstGeom>
          <a:noFill/>
          <a:ln/>
        </p:spPr>
        <p:txBody>
          <a:bodyPr wrap="square" lIns="0" tIns="0" rIns="0" bIns="0" rtlCol="0" anchor="ctr"/>
          <a:lstStyle/>
          <a:p>
            <a:pPr indent="0" marL="0">
              <a:buNone/>
            </a:pPr>
            <a:r>
              <a:rPr lang="en-US" sz="1500" i="1" dirty="0">
                <a:solidFill>
                  <a:srgbClr val="DCE9F2"/>
                </a:solidFill>
                <a:latin typeface="Cambria" pitchFamily="34" charset="0"/>
                <a:ea typeface="Cambria" pitchFamily="34" charset="-122"/>
                <a:cs typeface="Cambria" pitchFamily="34" charset="-120"/>
              </a:rPr>
              <a:t>The interface hides what a role cannot do. The API refuses it. Only the second one is a security control.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Three trust zones, and every crossing is checked</a:t>
            </a:r>
            <a:endParaRPr lang="en-US" sz="3000" dirty="0"/>
          </a:p>
        </p:txBody>
      </p:sp>
      <p:pic>
        <p:nvPicPr>
          <p:cNvPr id="4" name="Image 0" descr="/home/claude/proposal/architecture.png">    </p:cNvPr>
          <p:cNvPicPr>
            <a:picLocks noChangeAspect="1"/>
          </p:cNvPicPr>
          <p:nvPr/>
        </p:nvPicPr>
        <p:blipFill>
          <a:blip r:embed="rId1"/>
          <a:stretch>
            <a:fillRect/>
          </a:stretch>
        </p:blipFill>
        <p:spPr>
          <a:xfrm>
            <a:off x="566928" y="1417320"/>
            <a:ext cx="11027664" cy="4023360"/>
          </a:xfrm>
          <a:prstGeom prst="rect">
            <a:avLst/>
          </a:prstGeom>
        </p:spPr>
      </p:pic>
      <p:sp>
        <p:nvSpPr>
          <p:cNvPr id="5" name="Text 2"/>
          <p:cNvSpPr/>
          <p:nvPr/>
        </p:nvSpPr>
        <p:spPr>
          <a:xfrm>
            <a:off x="548640" y="5623560"/>
            <a:ext cx="11064240" cy="457200"/>
          </a:xfrm>
          <a:prstGeom prst="rect">
            <a:avLst/>
          </a:prstGeom>
          <a:noFill/>
          <a:ln/>
        </p:spPr>
        <p:txBody>
          <a:bodyPr wrap="square" lIns="0" tIns="0" rIns="0" bIns="0" rtlCol="0" anchor="ctr"/>
          <a:lstStyle/>
          <a:p>
            <a:pPr algn="ctr" indent="0" marL="0">
              <a:buNone/>
            </a:pPr>
            <a:r>
              <a:rPr lang="en-US" sz="1200" dirty="0">
                <a:solidFill>
                  <a:srgbClr val="5B6B7A"/>
                </a:solidFill>
                <a:latin typeface="Calibri" pitchFamily="34" charset="0"/>
                <a:ea typeface="Calibri" pitchFamily="34" charset="-122"/>
                <a:cs typeface="Calibri" pitchFamily="34" charset="-120"/>
              </a:rPr>
              <a:t>Client zone is untrusted · Application zone authenticates, authorises and validates · Data zone is reachable only from Lambda roles scoped to one table and one key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SECURITY IMPLEMENTATION</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Six controls, chained so none can be skipped</a:t>
            </a:r>
            <a:endParaRPr lang="en-US" sz="3000" dirty="0"/>
          </a:p>
        </p:txBody>
      </p:sp>
      <p:sp>
        <p:nvSpPr>
          <p:cNvPr id="4" name="Shape 2"/>
          <p:cNvSpPr/>
          <p:nvPr/>
        </p:nvSpPr>
        <p:spPr>
          <a:xfrm>
            <a:off x="548640" y="1572768"/>
            <a:ext cx="5394960" cy="1097280"/>
          </a:xfrm>
          <a:prstGeom prst="roundRect">
            <a:avLst>
              <a:gd name="adj" fmla="val 6667"/>
            </a:avLst>
          </a:prstGeom>
          <a:solidFill>
            <a:srgbClr val="EEF4F8"/>
          </a:solidFill>
          <a:ln w="12700">
            <a:solidFill>
              <a:srgbClr val="DCE7EF"/>
            </a:solidFill>
            <a:prstDash val="solid"/>
          </a:ln>
        </p:spPr>
      </p:sp>
      <p:sp>
        <p:nvSpPr>
          <p:cNvPr id="5" name="Shape 3"/>
          <p:cNvSpPr/>
          <p:nvPr/>
        </p:nvSpPr>
        <p:spPr>
          <a:xfrm>
            <a:off x="804672" y="1901952"/>
            <a:ext cx="420624" cy="420624"/>
          </a:xfrm>
          <a:prstGeom prst="ellipse">
            <a:avLst/>
          </a:prstGeom>
          <a:solidFill>
            <a:srgbClr val="065A82"/>
          </a:solidFill>
          <a:ln/>
        </p:spPr>
      </p:sp>
      <p:sp>
        <p:nvSpPr>
          <p:cNvPr id="6" name="Text 4"/>
          <p:cNvSpPr/>
          <p:nvPr/>
        </p:nvSpPr>
        <p:spPr>
          <a:xfrm>
            <a:off x="804672" y="19019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89888" y="1755648"/>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Authentication &amp; MFA</a:t>
            </a:r>
            <a:endParaRPr lang="en-US" sz="1400" dirty="0"/>
          </a:p>
        </p:txBody>
      </p:sp>
      <p:sp>
        <p:nvSpPr>
          <p:cNvPr id="8" name="Text 6"/>
          <p:cNvSpPr/>
          <p:nvPr/>
        </p:nvSpPr>
        <p:spPr>
          <a:xfrm>
            <a:off x="1389888" y="2048256"/>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Cognito user pool, TOTP enforced, 12-character policy, admin-only provisioning</a:t>
            </a:r>
            <a:endParaRPr lang="en-US" sz="1150" dirty="0"/>
          </a:p>
        </p:txBody>
      </p:sp>
      <p:sp>
        <p:nvSpPr>
          <p:cNvPr id="9" name="Shape 7"/>
          <p:cNvSpPr/>
          <p:nvPr/>
        </p:nvSpPr>
        <p:spPr>
          <a:xfrm>
            <a:off x="6217920" y="1572768"/>
            <a:ext cx="5394960" cy="1097280"/>
          </a:xfrm>
          <a:prstGeom prst="roundRect">
            <a:avLst>
              <a:gd name="adj" fmla="val 6667"/>
            </a:avLst>
          </a:prstGeom>
          <a:solidFill>
            <a:srgbClr val="EEF4F8"/>
          </a:solidFill>
          <a:ln w="12700">
            <a:solidFill>
              <a:srgbClr val="DCE7EF"/>
            </a:solidFill>
            <a:prstDash val="solid"/>
          </a:ln>
        </p:spPr>
      </p:sp>
      <p:sp>
        <p:nvSpPr>
          <p:cNvPr id="10" name="Shape 8"/>
          <p:cNvSpPr/>
          <p:nvPr/>
        </p:nvSpPr>
        <p:spPr>
          <a:xfrm>
            <a:off x="6473952" y="1901952"/>
            <a:ext cx="420624" cy="420624"/>
          </a:xfrm>
          <a:prstGeom prst="ellipse">
            <a:avLst/>
          </a:prstGeom>
          <a:solidFill>
            <a:srgbClr val="1C7293"/>
          </a:solidFill>
          <a:ln/>
        </p:spPr>
      </p:sp>
      <p:sp>
        <p:nvSpPr>
          <p:cNvPr id="11" name="Text 9"/>
          <p:cNvSpPr/>
          <p:nvPr/>
        </p:nvSpPr>
        <p:spPr>
          <a:xfrm>
            <a:off x="6473952" y="19019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059168" y="1755648"/>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Role-based access control</a:t>
            </a:r>
            <a:endParaRPr lang="en-US" sz="1400" dirty="0"/>
          </a:p>
        </p:txBody>
      </p:sp>
      <p:sp>
        <p:nvSpPr>
          <p:cNvPr id="13" name="Text 11"/>
          <p:cNvSpPr/>
          <p:nvPr/>
        </p:nvSpPr>
        <p:spPr>
          <a:xfrm>
            <a:off x="7059168" y="2048256"/>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Deny-by-default matrix; identity read only from validated token claims</a:t>
            </a:r>
            <a:endParaRPr lang="en-US" sz="1150" dirty="0"/>
          </a:p>
        </p:txBody>
      </p:sp>
      <p:sp>
        <p:nvSpPr>
          <p:cNvPr id="14" name="Shape 12"/>
          <p:cNvSpPr/>
          <p:nvPr/>
        </p:nvSpPr>
        <p:spPr>
          <a:xfrm>
            <a:off x="548640" y="2871216"/>
            <a:ext cx="5394960" cy="1097280"/>
          </a:xfrm>
          <a:prstGeom prst="roundRect">
            <a:avLst>
              <a:gd name="adj" fmla="val 6667"/>
            </a:avLst>
          </a:prstGeom>
          <a:solidFill>
            <a:srgbClr val="EEF4F8"/>
          </a:solidFill>
          <a:ln w="12700">
            <a:solidFill>
              <a:srgbClr val="DCE7EF"/>
            </a:solidFill>
            <a:prstDash val="solid"/>
          </a:ln>
        </p:spPr>
      </p:sp>
      <p:sp>
        <p:nvSpPr>
          <p:cNvPr id="15" name="Shape 13"/>
          <p:cNvSpPr/>
          <p:nvPr/>
        </p:nvSpPr>
        <p:spPr>
          <a:xfrm>
            <a:off x="804672" y="3200400"/>
            <a:ext cx="420624" cy="420624"/>
          </a:xfrm>
          <a:prstGeom prst="ellipse">
            <a:avLst/>
          </a:prstGeom>
          <a:solidFill>
            <a:srgbClr val="065A82"/>
          </a:solidFill>
          <a:ln/>
        </p:spPr>
      </p:sp>
      <p:sp>
        <p:nvSpPr>
          <p:cNvPr id="16" name="Text 14"/>
          <p:cNvSpPr/>
          <p:nvPr/>
        </p:nvSpPr>
        <p:spPr>
          <a:xfrm>
            <a:off x="804672" y="3200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389888" y="3054096"/>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Input validation</a:t>
            </a:r>
            <a:endParaRPr lang="en-US" sz="1400" dirty="0"/>
          </a:p>
        </p:txBody>
      </p:sp>
      <p:sp>
        <p:nvSpPr>
          <p:cNvPr id="18" name="Text 16"/>
          <p:cNvSpPr/>
          <p:nvPr/>
        </p:nvSpPr>
        <p:spPr>
          <a:xfrm>
            <a:off x="1389888" y="3346704"/>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Server-side whitelist; unknown fields rejected; strict per-field patterns</a:t>
            </a:r>
            <a:endParaRPr lang="en-US" sz="1150" dirty="0"/>
          </a:p>
        </p:txBody>
      </p:sp>
      <p:sp>
        <p:nvSpPr>
          <p:cNvPr id="19" name="Shape 17"/>
          <p:cNvSpPr/>
          <p:nvPr/>
        </p:nvSpPr>
        <p:spPr>
          <a:xfrm>
            <a:off x="6217920" y="2871216"/>
            <a:ext cx="5394960" cy="1097280"/>
          </a:xfrm>
          <a:prstGeom prst="roundRect">
            <a:avLst>
              <a:gd name="adj" fmla="val 6667"/>
            </a:avLst>
          </a:prstGeom>
          <a:solidFill>
            <a:srgbClr val="EEF4F8"/>
          </a:solidFill>
          <a:ln w="12700">
            <a:solidFill>
              <a:srgbClr val="DCE7EF"/>
            </a:solidFill>
            <a:prstDash val="solid"/>
          </a:ln>
        </p:spPr>
      </p:sp>
      <p:sp>
        <p:nvSpPr>
          <p:cNvPr id="20" name="Shape 18"/>
          <p:cNvSpPr/>
          <p:nvPr/>
        </p:nvSpPr>
        <p:spPr>
          <a:xfrm>
            <a:off x="6473952" y="3200400"/>
            <a:ext cx="420624" cy="420624"/>
          </a:xfrm>
          <a:prstGeom prst="ellipse">
            <a:avLst/>
          </a:prstGeom>
          <a:solidFill>
            <a:srgbClr val="1C7293"/>
          </a:solidFill>
          <a:ln/>
        </p:spPr>
      </p:sp>
      <p:sp>
        <p:nvSpPr>
          <p:cNvPr id="21" name="Text 19"/>
          <p:cNvSpPr/>
          <p:nvPr/>
        </p:nvSpPr>
        <p:spPr>
          <a:xfrm>
            <a:off x="6473952" y="3200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059168" y="3054096"/>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Encryption AES-256-GCM</a:t>
            </a:r>
            <a:endParaRPr lang="en-US" sz="1400" dirty="0"/>
          </a:p>
        </p:txBody>
      </p:sp>
      <p:sp>
        <p:nvSpPr>
          <p:cNvPr id="23" name="Text 21"/>
          <p:cNvSpPr/>
          <p:nvPr/>
        </p:nvSpPr>
        <p:spPr>
          <a:xfrm>
            <a:off x="7059168" y="3346704"/>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KMS customer-managed key; per-record encryption context; TLS in transit</a:t>
            </a:r>
            <a:endParaRPr lang="en-US" sz="1150" dirty="0"/>
          </a:p>
        </p:txBody>
      </p:sp>
      <p:sp>
        <p:nvSpPr>
          <p:cNvPr id="24" name="Shape 22"/>
          <p:cNvSpPr/>
          <p:nvPr/>
        </p:nvSpPr>
        <p:spPr>
          <a:xfrm>
            <a:off x="548640" y="4169664"/>
            <a:ext cx="5394960" cy="1097280"/>
          </a:xfrm>
          <a:prstGeom prst="roundRect">
            <a:avLst>
              <a:gd name="adj" fmla="val 6667"/>
            </a:avLst>
          </a:prstGeom>
          <a:solidFill>
            <a:srgbClr val="EEF4F8"/>
          </a:solidFill>
          <a:ln w="12700">
            <a:solidFill>
              <a:srgbClr val="DCE7EF"/>
            </a:solidFill>
            <a:prstDash val="solid"/>
          </a:ln>
        </p:spPr>
      </p:sp>
      <p:sp>
        <p:nvSpPr>
          <p:cNvPr id="25" name="Shape 23"/>
          <p:cNvSpPr/>
          <p:nvPr/>
        </p:nvSpPr>
        <p:spPr>
          <a:xfrm>
            <a:off x="804672" y="4498848"/>
            <a:ext cx="420624" cy="420624"/>
          </a:xfrm>
          <a:prstGeom prst="ellipse">
            <a:avLst/>
          </a:prstGeom>
          <a:solidFill>
            <a:srgbClr val="065A82"/>
          </a:solidFill>
          <a:ln/>
        </p:spPr>
      </p:sp>
      <p:sp>
        <p:nvSpPr>
          <p:cNvPr id="26" name="Text 24"/>
          <p:cNvSpPr/>
          <p:nvPr/>
        </p:nvSpPr>
        <p:spPr>
          <a:xfrm>
            <a:off x="804672" y="4498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389888" y="4352544"/>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SHA-256 integrity</a:t>
            </a:r>
            <a:endParaRPr lang="en-US" sz="1400" dirty="0"/>
          </a:p>
        </p:txBody>
      </p:sp>
      <p:sp>
        <p:nvSpPr>
          <p:cNvPr id="28" name="Text 26"/>
          <p:cNvSpPr/>
          <p:nvPr/>
        </p:nvSpPr>
        <p:spPr>
          <a:xfrm>
            <a:off x="1389888" y="4645152"/>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Hash over plaintext, verified on every read; tampering returns 409</a:t>
            </a:r>
            <a:endParaRPr lang="en-US" sz="1150" dirty="0"/>
          </a:p>
        </p:txBody>
      </p:sp>
      <p:sp>
        <p:nvSpPr>
          <p:cNvPr id="29" name="Shape 27"/>
          <p:cNvSpPr/>
          <p:nvPr/>
        </p:nvSpPr>
        <p:spPr>
          <a:xfrm>
            <a:off x="6217920" y="4169664"/>
            <a:ext cx="5394960" cy="1097280"/>
          </a:xfrm>
          <a:prstGeom prst="roundRect">
            <a:avLst>
              <a:gd name="adj" fmla="val 6667"/>
            </a:avLst>
          </a:prstGeom>
          <a:solidFill>
            <a:srgbClr val="EEF4F8"/>
          </a:solidFill>
          <a:ln w="12700">
            <a:solidFill>
              <a:srgbClr val="DCE7EF"/>
            </a:solidFill>
            <a:prstDash val="solid"/>
          </a:ln>
        </p:spPr>
      </p:sp>
      <p:sp>
        <p:nvSpPr>
          <p:cNvPr id="30" name="Shape 28"/>
          <p:cNvSpPr/>
          <p:nvPr/>
        </p:nvSpPr>
        <p:spPr>
          <a:xfrm>
            <a:off x="6473952" y="4498848"/>
            <a:ext cx="420624" cy="420624"/>
          </a:xfrm>
          <a:prstGeom prst="ellipse">
            <a:avLst/>
          </a:prstGeom>
          <a:solidFill>
            <a:srgbClr val="1C7293"/>
          </a:solidFill>
          <a:ln/>
        </p:spPr>
      </p:sp>
      <p:sp>
        <p:nvSpPr>
          <p:cNvPr id="31" name="Text 29"/>
          <p:cNvSpPr/>
          <p:nvPr/>
        </p:nvSpPr>
        <p:spPr>
          <a:xfrm>
            <a:off x="6473952" y="4498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7059168" y="4352544"/>
            <a:ext cx="438912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Logging &amp; monitoring</a:t>
            </a:r>
            <a:endParaRPr lang="en-US" sz="1400" dirty="0"/>
          </a:p>
        </p:txBody>
      </p:sp>
      <p:sp>
        <p:nvSpPr>
          <p:cNvPr id="33" name="Text 31"/>
          <p:cNvSpPr/>
          <p:nvPr/>
        </p:nvSpPr>
        <p:spPr>
          <a:xfrm>
            <a:off x="7059168" y="4645152"/>
            <a:ext cx="4434840" cy="548640"/>
          </a:xfrm>
          <a:prstGeom prst="rect">
            <a:avLst/>
          </a:prstGeom>
          <a:noFill/>
          <a:ln/>
        </p:spPr>
        <p:txBody>
          <a:bodyPr wrap="square" lIns="0" tIns="0" rIns="0" bIns="0" rtlCol="0" anchor="ctr"/>
          <a:lstStyle/>
          <a:p>
            <a:pPr indent="0" marL="0">
              <a:lnSpc>
                <a:spcPts val="1400"/>
              </a:lnSpc>
              <a:buNone/>
            </a:pPr>
            <a:r>
              <a:rPr lang="en-US" sz="1150" dirty="0">
                <a:solidFill>
                  <a:srgbClr val="5B6B7A"/>
                </a:solidFill>
                <a:latin typeface="Calibri" pitchFamily="34" charset="0"/>
                <a:ea typeface="Calibri" pitchFamily="34" charset="-122"/>
                <a:cs typeface="Calibri" pitchFamily="34" charset="-120"/>
              </a:rPr>
              <a:t>Append-only audit trail, CloudWatch metrics, six alarms, CloudTrail</a:t>
            </a:r>
            <a:endParaRPr lang="en-US" sz="1150" dirty="0"/>
          </a:p>
        </p:txBody>
      </p:sp>
      <p:sp>
        <p:nvSpPr>
          <p:cNvPr id="34" name="Text 32"/>
          <p:cNvSpPr/>
          <p:nvPr/>
        </p:nvSpPr>
        <p:spPr>
          <a:xfrm>
            <a:off x="548640" y="5532120"/>
            <a:ext cx="11064240" cy="36576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requirement was four. Every request runs the same pipeline: identity → authorise → validate → act → audit.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HOW TWO CONTROLS WORK</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Encryption you can see, integrity you can prove</a:t>
            </a:r>
            <a:endParaRPr lang="en-US" sz="3000" dirty="0"/>
          </a:p>
        </p:txBody>
      </p:sp>
      <p:sp>
        <p:nvSpPr>
          <p:cNvPr id="4" name="Shape 2"/>
          <p:cNvSpPr/>
          <p:nvPr/>
        </p:nvSpPr>
        <p:spPr>
          <a:xfrm>
            <a:off x="548640" y="1600200"/>
            <a:ext cx="5394960" cy="3657600"/>
          </a:xfrm>
          <a:prstGeom prst="roundRect">
            <a:avLst>
              <a:gd name="adj" fmla="val 2000"/>
            </a:avLst>
          </a:prstGeom>
          <a:solidFill>
            <a:srgbClr val="EEF4F8"/>
          </a:solidFill>
          <a:ln w="12700">
            <a:solidFill>
              <a:srgbClr val="DCE7EF"/>
            </a:solidFill>
            <a:prstDash val="solid"/>
          </a:ln>
        </p:spPr>
      </p:sp>
      <p:sp>
        <p:nvSpPr>
          <p:cNvPr id="5" name="Text 3"/>
          <p:cNvSpPr/>
          <p:nvPr/>
        </p:nvSpPr>
        <p:spPr>
          <a:xfrm>
            <a:off x="868680" y="1810512"/>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Encryption</a:t>
            </a:r>
            <a:endParaRPr lang="en-US" sz="1500" dirty="0"/>
          </a:p>
        </p:txBody>
      </p:sp>
      <p:sp>
        <p:nvSpPr>
          <p:cNvPr id="6" name="Text 4"/>
          <p:cNvSpPr/>
          <p:nvPr/>
        </p:nvSpPr>
        <p:spPr>
          <a:xfrm>
            <a:off x="868680" y="2176272"/>
            <a:ext cx="4754880" cy="685800"/>
          </a:xfrm>
          <a:prstGeom prst="rect">
            <a:avLst/>
          </a:prstGeom>
          <a:noFill/>
          <a:ln/>
        </p:spPr>
        <p:txBody>
          <a:bodyPr wrap="square" lIns="0" tIns="0" rIns="0" bIns="0" rtlCol="0" anchor="ctr"/>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Clinical fields are encrypted through AWS KMS before they reach the database. The plaintext key never enters the function's memory.</a:t>
            </a:r>
            <a:endParaRPr lang="en-US" sz="1250" dirty="0"/>
          </a:p>
        </p:txBody>
      </p:sp>
      <p:pic>
        <p:nvPicPr>
          <p:cNvPr id="7" name="Image 0" descr="/home/claude/figs/fig-03-dynamodb-ciphertext.png">    </p:cNvPr>
          <p:cNvPicPr>
            <a:picLocks noChangeAspect="1"/>
          </p:cNvPicPr>
          <p:nvPr/>
        </p:nvPicPr>
        <p:blipFill>
          <a:blip r:embed="rId1"/>
          <a:stretch>
            <a:fillRect/>
          </a:stretch>
        </p:blipFill>
        <p:spPr>
          <a:xfrm>
            <a:off x="868680" y="2907792"/>
            <a:ext cx="4754880" cy="1819656"/>
          </a:xfrm>
          <a:prstGeom prst="rect">
            <a:avLst/>
          </a:prstGeom>
        </p:spPr>
      </p:pic>
      <p:sp>
        <p:nvSpPr>
          <p:cNvPr id="8" name="Text 5"/>
          <p:cNvSpPr/>
          <p:nvPr/>
        </p:nvSpPr>
        <p:spPr>
          <a:xfrm>
            <a:off x="868680" y="4800600"/>
            <a:ext cx="4754880" cy="411480"/>
          </a:xfrm>
          <a:prstGeom prst="rect">
            <a:avLst/>
          </a:prstGeom>
          <a:noFill/>
          <a:ln/>
        </p:spPr>
        <p:txBody>
          <a:bodyPr wrap="square" lIns="0" tIns="0" rIns="0" bIns="0" rtlCol="0" anchor="ctr"/>
          <a:lstStyle/>
          <a:p>
            <a:pPr indent="0" marL="0">
              <a:lnSpc>
                <a:spcPts val="1400"/>
              </a:lnSpc>
              <a:buNone/>
            </a:pPr>
            <a:r>
              <a:rPr lang="en-US" sz="1100" i="1" dirty="0">
                <a:solidFill>
                  <a:srgbClr val="5B6B7A"/>
                </a:solidFill>
                <a:latin typeface="Calibri" pitchFamily="34" charset="0"/>
                <a:ea typeface="Calibri" pitchFamily="34" charset="-122"/>
                <a:cs typeface="Calibri" pitchFamily="34" charset="-120"/>
              </a:rPr>
              <a:t>What is actually stored: ciphertext, never the note. A blob copied onto another patient's record fails to decrypt.</a:t>
            </a:r>
            <a:endParaRPr lang="en-US" sz="1100" dirty="0"/>
          </a:p>
        </p:txBody>
      </p:sp>
      <p:sp>
        <p:nvSpPr>
          <p:cNvPr id="9" name="Shape 6"/>
          <p:cNvSpPr/>
          <p:nvPr/>
        </p:nvSpPr>
        <p:spPr>
          <a:xfrm>
            <a:off x="6217920" y="1600200"/>
            <a:ext cx="5394960" cy="3657600"/>
          </a:xfrm>
          <a:prstGeom prst="roundRect">
            <a:avLst>
              <a:gd name="adj" fmla="val 2000"/>
            </a:avLst>
          </a:prstGeom>
          <a:solidFill>
            <a:srgbClr val="EEF4F8"/>
          </a:solidFill>
          <a:ln w="12700">
            <a:solidFill>
              <a:srgbClr val="DCE7EF"/>
            </a:solidFill>
            <a:prstDash val="solid"/>
          </a:ln>
        </p:spPr>
      </p:sp>
      <p:sp>
        <p:nvSpPr>
          <p:cNvPr id="10" name="Text 7"/>
          <p:cNvSpPr/>
          <p:nvPr/>
        </p:nvSpPr>
        <p:spPr>
          <a:xfrm>
            <a:off x="6537960" y="1810512"/>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Integrity</a:t>
            </a:r>
            <a:endParaRPr lang="en-US" sz="1500" dirty="0"/>
          </a:p>
        </p:txBody>
      </p:sp>
      <p:sp>
        <p:nvSpPr>
          <p:cNvPr id="11" name="Text 8"/>
          <p:cNvSpPr/>
          <p:nvPr/>
        </p:nvSpPr>
        <p:spPr>
          <a:xfrm>
            <a:off x="6537960" y="2176272"/>
            <a:ext cx="4754880" cy="868680"/>
          </a:xfrm>
          <a:prstGeom prst="rect">
            <a:avLst/>
          </a:prstGeom>
          <a:noFill/>
          <a:ln/>
        </p:spPr>
        <p:txBody>
          <a:bodyPr wrap="square" lIns="0" tIns="0" rIns="0" bIns="0" rtlCol="0" anchor="ctr"/>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A SHA-256 hash is taken over the decrypted record and re-checked on every read — so tampering is caught whether an attacker edits a clear field or swaps an encrypted blob.</a:t>
            </a:r>
            <a:endParaRPr lang="en-US" sz="1250" dirty="0"/>
          </a:p>
        </p:txBody>
      </p:sp>
      <p:sp>
        <p:nvSpPr>
          <p:cNvPr id="12" name="Shape 9"/>
          <p:cNvSpPr/>
          <p:nvPr/>
        </p:nvSpPr>
        <p:spPr>
          <a:xfrm>
            <a:off x="6537960" y="3163824"/>
            <a:ext cx="182880" cy="182880"/>
          </a:xfrm>
          <a:prstGeom prst="ellipse">
            <a:avLst/>
          </a:prstGeom>
          <a:solidFill>
            <a:srgbClr val="5B6B7A"/>
          </a:solidFill>
          <a:ln/>
        </p:spPr>
      </p:sp>
      <p:sp>
        <p:nvSpPr>
          <p:cNvPr id="13" name="Text 10"/>
          <p:cNvSpPr/>
          <p:nvPr/>
        </p:nvSpPr>
        <p:spPr>
          <a:xfrm>
            <a:off x="6858000" y="3108960"/>
            <a:ext cx="4572000" cy="310896"/>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Record read from DynamoDB</a:t>
            </a:r>
            <a:endParaRPr lang="en-US" sz="1250" dirty="0"/>
          </a:p>
        </p:txBody>
      </p:sp>
      <p:sp>
        <p:nvSpPr>
          <p:cNvPr id="14" name="Shape 11"/>
          <p:cNvSpPr/>
          <p:nvPr/>
        </p:nvSpPr>
        <p:spPr>
          <a:xfrm>
            <a:off x="6537960" y="3639312"/>
            <a:ext cx="182880" cy="182880"/>
          </a:xfrm>
          <a:prstGeom prst="ellipse">
            <a:avLst/>
          </a:prstGeom>
          <a:solidFill>
            <a:srgbClr val="5B6B7A"/>
          </a:solidFill>
          <a:ln/>
        </p:spPr>
      </p:sp>
      <p:sp>
        <p:nvSpPr>
          <p:cNvPr id="15" name="Text 12"/>
          <p:cNvSpPr/>
          <p:nvPr/>
        </p:nvSpPr>
        <p:spPr>
          <a:xfrm>
            <a:off x="6858000" y="3584448"/>
            <a:ext cx="4572000" cy="310896"/>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Hash recomputed over plaintext</a:t>
            </a:r>
            <a:endParaRPr lang="en-US" sz="1250" dirty="0"/>
          </a:p>
        </p:txBody>
      </p:sp>
      <p:sp>
        <p:nvSpPr>
          <p:cNvPr id="16" name="Shape 13"/>
          <p:cNvSpPr/>
          <p:nvPr/>
        </p:nvSpPr>
        <p:spPr>
          <a:xfrm>
            <a:off x="6537960" y="4114800"/>
            <a:ext cx="182880" cy="182880"/>
          </a:xfrm>
          <a:prstGeom prst="ellipse">
            <a:avLst/>
          </a:prstGeom>
          <a:solidFill>
            <a:srgbClr val="C0392B"/>
          </a:solidFill>
          <a:ln/>
        </p:spPr>
      </p:sp>
      <p:sp>
        <p:nvSpPr>
          <p:cNvPr id="17" name="Text 14"/>
          <p:cNvSpPr/>
          <p:nvPr/>
        </p:nvSpPr>
        <p:spPr>
          <a:xfrm>
            <a:off x="6858000" y="4059936"/>
            <a:ext cx="4572000" cy="310896"/>
          </a:xfrm>
          <a:prstGeom prst="rect">
            <a:avLst/>
          </a:prstGeom>
          <a:noFill/>
          <a:ln/>
        </p:spPr>
        <p:txBody>
          <a:bodyPr wrap="square" lIns="0" tIns="0" rIns="0" bIns="0" rtlCol="0" anchor="ctr"/>
          <a:lstStyle/>
          <a:p>
            <a:pPr indent="0" marL="0">
              <a:buNone/>
            </a:pPr>
            <a:r>
              <a:rPr lang="en-US" sz="1250" dirty="0">
                <a:solidFill>
                  <a:srgbClr val="C0392B"/>
                </a:solidFill>
                <a:latin typeface="Calibri" pitchFamily="34" charset="0"/>
                <a:ea typeface="Calibri" pitchFamily="34" charset="-122"/>
                <a:cs typeface="Calibri" pitchFamily="34" charset="-120"/>
              </a:rPr>
              <a:t>Mismatch → 409, record withheld</a:t>
            </a:r>
            <a:endParaRPr lang="en-US" sz="1250" dirty="0"/>
          </a:p>
        </p:txBody>
      </p:sp>
      <p:sp>
        <p:nvSpPr>
          <p:cNvPr id="18" name="Shape 15"/>
          <p:cNvSpPr/>
          <p:nvPr/>
        </p:nvSpPr>
        <p:spPr>
          <a:xfrm>
            <a:off x="6537960" y="4590288"/>
            <a:ext cx="182880" cy="182880"/>
          </a:xfrm>
          <a:prstGeom prst="ellipse">
            <a:avLst/>
          </a:prstGeom>
          <a:solidFill>
            <a:srgbClr val="C0392B"/>
          </a:solidFill>
          <a:ln/>
        </p:spPr>
      </p:sp>
      <p:sp>
        <p:nvSpPr>
          <p:cNvPr id="19" name="Text 16"/>
          <p:cNvSpPr/>
          <p:nvPr/>
        </p:nvSpPr>
        <p:spPr>
          <a:xfrm>
            <a:off x="6858000" y="4535424"/>
            <a:ext cx="4572000" cy="310896"/>
          </a:xfrm>
          <a:prstGeom prst="rect">
            <a:avLst/>
          </a:prstGeom>
          <a:noFill/>
          <a:ln/>
        </p:spPr>
        <p:txBody>
          <a:bodyPr wrap="square" lIns="0" tIns="0" rIns="0" bIns="0" rtlCol="0" anchor="ctr"/>
          <a:lstStyle/>
          <a:p>
            <a:pPr indent="0" marL="0">
              <a:buNone/>
            </a:pPr>
            <a:r>
              <a:rPr lang="en-US" sz="1250" dirty="0">
                <a:solidFill>
                  <a:srgbClr val="C0392B"/>
                </a:solidFill>
                <a:latin typeface="Calibri" pitchFamily="34" charset="0"/>
                <a:ea typeface="Calibri" pitchFamily="34" charset="-122"/>
                <a:cs typeface="Calibri" pitchFamily="34" charset="-120"/>
              </a:rPr>
              <a:t>Alert written to the audit log</a:t>
            </a:r>
            <a:endParaRPr lang="en-US" sz="1250" dirty="0"/>
          </a:p>
        </p:txBody>
      </p:sp>
      <p:sp>
        <p:nvSpPr>
          <p:cNvPr id="20" name="Text 17"/>
          <p:cNvSpPr/>
          <p:nvPr/>
        </p:nvSpPr>
        <p:spPr>
          <a:xfrm>
            <a:off x="6537960" y="4956048"/>
            <a:ext cx="4754880" cy="274320"/>
          </a:xfrm>
          <a:prstGeom prst="rect">
            <a:avLst/>
          </a:prstGeom>
          <a:noFill/>
          <a:ln/>
        </p:spPr>
        <p:txBody>
          <a:bodyPr wrap="square" lIns="0" tIns="0" rIns="0" bIns="0" rtlCol="0" anchor="ctr"/>
          <a:lstStyle/>
          <a:p>
            <a:pPr indent="0" marL="0">
              <a:buNone/>
            </a:pPr>
            <a:r>
              <a:rPr lang="en-US" sz="1150" i="1" dirty="0">
                <a:solidFill>
                  <a:srgbClr val="5B6B7A"/>
                </a:solidFill>
                <a:latin typeface="Calibri" pitchFamily="34" charset="0"/>
                <a:ea typeface="Calibri" pitchFamily="34" charset="-122"/>
                <a:cs typeface="Calibri" pitchFamily="34" charset="-120"/>
              </a:rPr>
              <a:t>Restore the original value and it verifies again.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THREAT MODELLING</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STRIDE applied at every boundary, before any code was written</a:t>
            </a:r>
            <a:endParaRPr lang="en-US" sz="3000" dirty="0"/>
          </a:p>
        </p:txBody>
      </p:sp>
      <p:sp>
        <p:nvSpPr>
          <p:cNvPr id="4" name="Shape 2"/>
          <p:cNvSpPr/>
          <p:nvPr/>
        </p:nvSpPr>
        <p:spPr>
          <a:xfrm>
            <a:off x="548640" y="1517904"/>
            <a:ext cx="11064240" cy="658368"/>
          </a:xfrm>
          <a:prstGeom prst="rect">
            <a:avLst/>
          </a:prstGeom>
          <a:solidFill>
            <a:srgbClr val="EEF4F8"/>
          </a:solidFill>
          <a:ln/>
        </p:spPr>
      </p:sp>
      <p:sp>
        <p:nvSpPr>
          <p:cNvPr id="5" name="Shape 3"/>
          <p:cNvSpPr/>
          <p:nvPr/>
        </p:nvSpPr>
        <p:spPr>
          <a:xfrm>
            <a:off x="713232" y="1655064"/>
            <a:ext cx="384048" cy="384048"/>
          </a:xfrm>
          <a:prstGeom prst="ellipse">
            <a:avLst/>
          </a:prstGeom>
          <a:solidFill>
            <a:srgbClr val="065A82"/>
          </a:solidFill>
          <a:ln/>
        </p:spPr>
      </p:sp>
      <p:sp>
        <p:nvSpPr>
          <p:cNvPr id="6" name="Text 4"/>
          <p:cNvSpPr/>
          <p:nvPr/>
        </p:nvSpPr>
        <p:spPr>
          <a:xfrm>
            <a:off x="713232" y="1655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a:t>
            </a:r>
            <a:endParaRPr lang="en-US" sz="1400" dirty="0"/>
          </a:p>
        </p:txBody>
      </p:sp>
      <p:sp>
        <p:nvSpPr>
          <p:cNvPr id="7" name="Text 5"/>
          <p:cNvSpPr/>
          <p:nvPr/>
        </p:nvSpPr>
        <p:spPr>
          <a:xfrm>
            <a:off x="1298448" y="17007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Spoofing</a:t>
            </a:r>
            <a:endParaRPr lang="en-US" sz="1300" dirty="0"/>
          </a:p>
        </p:txBody>
      </p:sp>
      <p:sp>
        <p:nvSpPr>
          <p:cNvPr id="8" name="Text 6"/>
          <p:cNvSpPr/>
          <p:nvPr/>
        </p:nvSpPr>
        <p:spPr>
          <a:xfrm>
            <a:off x="3063240" y="17007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Forged token, stolen credentials</a:t>
            </a:r>
            <a:endParaRPr lang="en-US" sz="1200" dirty="0"/>
          </a:p>
        </p:txBody>
      </p:sp>
      <p:sp>
        <p:nvSpPr>
          <p:cNvPr id="9" name="Text 7"/>
          <p:cNvSpPr/>
          <p:nvPr/>
        </p:nvSpPr>
        <p:spPr>
          <a:xfrm>
            <a:off x="7223760" y="17007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MFA + gateway token validation</a:t>
            </a:r>
            <a:endParaRPr lang="en-US" sz="1200" dirty="0"/>
          </a:p>
        </p:txBody>
      </p:sp>
      <p:sp>
        <p:nvSpPr>
          <p:cNvPr id="10" name="Shape 8"/>
          <p:cNvSpPr/>
          <p:nvPr/>
        </p:nvSpPr>
        <p:spPr>
          <a:xfrm>
            <a:off x="713232" y="2340864"/>
            <a:ext cx="384048" cy="384048"/>
          </a:xfrm>
          <a:prstGeom prst="ellipse">
            <a:avLst/>
          </a:prstGeom>
          <a:solidFill>
            <a:srgbClr val="1C7293"/>
          </a:solidFill>
          <a:ln/>
        </p:spPr>
      </p:sp>
      <p:sp>
        <p:nvSpPr>
          <p:cNvPr id="11" name="Text 9"/>
          <p:cNvSpPr/>
          <p:nvPr/>
        </p:nvSpPr>
        <p:spPr>
          <a:xfrm>
            <a:off x="713232" y="23408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t>
            </a:r>
            <a:endParaRPr lang="en-US" sz="1400" dirty="0"/>
          </a:p>
        </p:txBody>
      </p:sp>
      <p:sp>
        <p:nvSpPr>
          <p:cNvPr id="12" name="Text 10"/>
          <p:cNvSpPr/>
          <p:nvPr/>
        </p:nvSpPr>
        <p:spPr>
          <a:xfrm>
            <a:off x="1298448" y="23865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Tampering</a:t>
            </a:r>
            <a:endParaRPr lang="en-US" sz="1300" dirty="0"/>
          </a:p>
        </p:txBody>
      </p:sp>
      <p:sp>
        <p:nvSpPr>
          <p:cNvPr id="13" name="Text 11"/>
          <p:cNvSpPr/>
          <p:nvPr/>
        </p:nvSpPr>
        <p:spPr>
          <a:xfrm>
            <a:off x="3063240" y="23865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Injection; record altered in the database</a:t>
            </a:r>
            <a:endParaRPr lang="en-US" sz="1200" dirty="0"/>
          </a:p>
        </p:txBody>
      </p:sp>
      <p:sp>
        <p:nvSpPr>
          <p:cNvPr id="14" name="Text 12"/>
          <p:cNvSpPr/>
          <p:nvPr/>
        </p:nvSpPr>
        <p:spPr>
          <a:xfrm>
            <a:off x="7223760" y="23865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Whitelist validation; SHA-256 verification</a:t>
            </a:r>
            <a:endParaRPr lang="en-US" sz="1200" dirty="0"/>
          </a:p>
        </p:txBody>
      </p:sp>
      <p:sp>
        <p:nvSpPr>
          <p:cNvPr id="15" name="Shape 13"/>
          <p:cNvSpPr/>
          <p:nvPr/>
        </p:nvSpPr>
        <p:spPr>
          <a:xfrm>
            <a:off x="548640" y="2889504"/>
            <a:ext cx="11064240" cy="658368"/>
          </a:xfrm>
          <a:prstGeom prst="rect">
            <a:avLst/>
          </a:prstGeom>
          <a:solidFill>
            <a:srgbClr val="EEF4F8"/>
          </a:solidFill>
          <a:ln/>
        </p:spPr>
      </p:sp>
      <p:sp>
        <p:nvSpPr>
          <p:cNvPr id="16" name="Shape 14"/>
          <p:cNvSpPr/>
          <p:nvPr/>
        </p:nvSpPr>
        <p:spPr>
          <a:xfrm>
            <a:off x="713232" y="3026664"/>
            <a:ext cx="384048" cy="384048"/>
          </a:xfrm>
          <a:prstGeom prst="ellipse">
            <a:avLst/>
          </a:prstGeom>
          <a:solidFill>
            <a:srgbClr val="065A82"/>
          </a:solidFill>
          <a:ln/>
        </p:spPr>
      </p:sp>
      <p:sp>
        <p:nvSpPr>
          <p:cNvPr id="17" name="Text 15"/>
          <p:cNvSpPr/>
          <p:nvPr/>
        </p:nvSpPr>
        <p:spPr>
          <a:xfrm>
            <a:off x="713232" y="30266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t>
            </a:r>
            <a:endParaRPr lang="en-US" sz="1400" dirty="0"/>
          </a:p>
        </p:txBody>
      </p:sp>
      <p:sp>
        <p:nvSpPr>
          <p:cNvPr id="18" name="Text 16"/>
          <p:cNvSpPr/>
          <p:nvPr/>
        </p:nvSpPr>
        <p:spPr>
          <a:xfrm>
            <a:off x="1298448" y="30723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Repudiation</a:t>
            </a:r>
            <a:endParaRPr lang="en-US" sz="1300" dirty="0"/>
          </a:p>
        </p:txBody>
      </p:sp>
      <p:sp>
        <p:nvSpPr>
          <p:cNvPr id="19" name="Text 17"/>
          <p:cNvSpPr/>
          <p:nvPr/>
        </p:nvSpPr>
        <p:spPr>
          <a:xfrm>
            <a:off x="3063240" y="30723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User denies an access or change</a:t>
            </a:r>
            <a:endParaRPr lang="en-US" sz="1200" dirty="0"/>
          </a:p>
        </p:txBody>
      </p:sp>
      <p:sp>
        <p:nvSpPr>
          <p:cNvPr id="20" name="Text 18"/>
          <p:cNvSpPr/>
          <p:nvPr/>
        </p:nvSpPr>
        <p:spPr>
          <a:xfrm>
            <a:off x="7223760" y="30723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Append-only audit trail with identity</a:t>
            </a:r>
            <a:endParaRPr lang="en-US" sz="1200" dirty="0"/>
          </a:p>
        </p:txBody>
      </p:sp>
      <p:sp>
        <p:nvSpPr>
          <p:cNvPr id="21" name="Shape 19"/>
          <p:cNvSpPr/>
          <p:nvPr/>
        </p:nvSpPr>
        <p:spPr>
          <a:xfrm>
            <a:off x="713232" y="3712464"/>
            <a:ext cx="384048" cy="384048"/>
          </a:xfrm>
          <a:prstGeom prst="ellipse">
            <a:avLst/>
          </a:prstGeom>
          <a:solidFill>
            <a:srgbClr val="1C7293"/>
          </a:solidFill>
          <a:ln/>
        </p:spPr>
      </p:sp>
      <p:sp>
        <p:nvSpPr>
          <p:cNvPr id="22" name="Text 20"/>
          <p:cNvSpPr/>
          <p:nvPr/>
        </p:nvSpPr>
        <p:spPr>
          <a:xfrm>
            <a:off x="713232" y="37124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a:t>
            </a:r>
            <a:endParaRPr lang="en-US" sz="1400" dirty="0"/>
          </a:p>
        </p:txBody>
      </p:sp>
      <p:sp>
        <p:nvSpPr>
          <p:cNvPr id="23" name="Text 21"/>
          <p:cNvSpPr/>
          <p:nvPr/>
        </p:nvSpPr>
        <p:spPr>
          <a:xfrm>
            <a:off x="1298448" y="37581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Info disclosure</a:t>
            </a:r>
            <a:endParaRPr lang="en-US" sz="1300" dirty="0"/>
          </a:p>
        </p:txBody>
      </p:sp>
      <p:sp>
        <p:nvSpPr>
          <p:cNvPr id="24" name="Text 22"/>
          <p:cNvSpPr/>
          <p:nvPr/>
        </p:nvSpPr>
        <p:spPr>
          <a:xfrm>
            <a:off x="3063240" y="37581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PHI from a stolen table; role over-reach</a:t>
            </a:r>
            <a:endParaRPr lang="en-US" sz="1200" dirty="0"/>
          </a:p>
        </p:txBody>
      </p:sp>
      <p:sp>
        <p:nvSpPr>
          <p:cNvPr id="25" name="Text 23"/>
          <p:cNvSpPr/>
          <p:nvPr/>
        </p:nvSpPr>
        <p:spPr>
          <a:xfrm>
            <a:off x="7223760" y="37581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KMS encryption; server-side redaction</a:t>
            </a:r>
            <a:endParaRPr lang="en-US" sz="1200" dirty="0"/>
          </a:p>
        </p:txBody>
      </p:sp>
      <p:sp>
        <p:nvSpPr>
          <p:cNvPr id="26" name="Shape 24"/>
          <p:cNvSpPr/>
          <p:nvPr/>
        </p:nvSpPr>
        <p:spPr>
          <a:xfrm>
            <a:off x="548640" y="4261104"/>
            <a:ext cx="11064240" cy="658368"/>
          </a:xfrm>
          <a:prstGeom prst="rect">
            <a:avLst/>
          </a:prstGeom>
          <a:solidFill>
            <a:srgbClr val="EEF4F8"/>
          </a:solidFill>
          <a:ln/>
        </p:spPr>
      </p:sp>
      <p:sp>
        <p:nvSpPr>
          <p:cNvPr id="27" name="Shape 25"/>
          <p:cNvSpPr/>
          <p:nvPr/>
        </p:nvSpPr>
        <p:spPr>
          <a:xfrm>
            <a:off x="713232" y="4398264"/>
            <a:ext cx="384048" cy="384048"/>
          </a:xfrm>
          <a:prstGeom prst="ellipse">
            <a:avLst/>
          </a:prstGeom>
          <a:solidFill>
            <a:srgbClr val="065A82"/>
          </a:solidFill>
          <a:ln/>
        </p:spPr>
      </p:sp>
      <p:sp>
        <p:nvSpPr>
          <p:cNvPr id="28" name="Text 26"/>
          <p:cNvSpPr/>
          <p:nvPr/>
        </p:nvSpPr>
        <p:spPr>
          <a:xfrm>
            <a:off x="713232" y="4398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9" name="Text 27"/>
          <p:cNvSpPr/>
          <p:nvPr/>
        </p:nvSpPr>
        <p:spPr>
          <a:xfrm>
            <a:off x="1298448" y="44439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Denial of service</a:t>
            </a:r>
            <a:endParaRPr lang="en-US" sz="1300" dirty="0"/>
          </a:p>
        </p:txBody>
      </p:sp>
      <p:sp>
        <p:nvSpPr>
          <p:cNvPr id="30" name="Text 28"/>
          <p:cNvSpPr/>
          <p:nvPr/>
        </p:nvSpPr>
        <p:spPr>
          <a:xfrm>
            <a:off x="3063240" y="44439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Flooding; oversized payloads</a:t>
            </a:r>
            <a:endParaRPr lang="en-US" sz="1200" dirty="0"/>
          </a:p>
        </p:txBody>
      </p:sp>
      <p:sp>
        <p:nvSpPr>
          <p:cNvPr id="31" name="Text 29"/>
          <p:cNvSpPr/>
          <p:nvPr/>
        </p:nvSpPr>
        <p:spPr>
          <a:xfrm>
            <a:off x="7223760" y="44439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Gateway throttling; 10 KB body cap</a:t>
            </a:r>
            <a:endParaRPr lang="en-US" sz="1200" dirty="0"/>
          </a:p>
        </p:txBody>
      </p:sp>
      <p:sp>
        <p:nvSpPr>
          <p:cNvPr id="32" name="Shape 30"/>
          <p:cNvSpPr/>
          <p:nvPr/>
        </p:nvSpPr>
        <p:spPr>
          <a:xfrm>
            <a:off x="713232" y="5084064"/>
            <a:ext cx="384048" cy="384048"/>
          </a:xfrm>
          <a:prstGeom prst="ellipse">
            <a:avLst/>
          </a:prstGeom>
          <a:solidFill>
            <a:srgbClr val="1C7293"/>
          </a:solidFill>
          <a:ln/>
        </p:spPr>
      </p:sp>
      <p:sp>
        <p:nvSpPr>
          <p:cNvPr id="33" name="Text 31"/>
          <p:cNvSpPr/>
          <p:nvPr/>
        </p:nvSpPr>
        <p:spPr>
          <a:xfrm>
            <a:off x="713232" y="50840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a:t>
            </a:r>
            <a:endParaRPr lang="en-US" sz="1400" dirty="0"/>
          </a:p>
        </p:txBody>
      </p:sp>
      <p:sp>
        <p:nvSpPr>
          <p:cNvPr id="34" name="Text 32"/>
          <p:cNvSpPr/>
          <p:nvPr/>
        </p:nvSpPr>
        <p:spPr>
          <a:xfrm>
            <a:off x="1298448" y="5129784"/>
            <a:ext cx="1691640" cy="301752"/>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Elevation</a:t>
            </a:r>
            <a:endParaRPr lang="en-US" sz="1300" dirty="0"/>
          </a:p>
        </p:txBody>
      </p:sp>
      <p:sp>
        <p:nvSpPr>
          <p:cNvPr id="35" name="Text 33"/>
          <p:cNvSpPr/>
          <p:nvPr/>
        </p:nvSpPr>
        <p:spPr>
          <a:xfrm>
            <a:off x="3063240" y="5129784"/>
            <a:ext cx="4023360" cy="3017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Low-privilege role reaching write endpoints</a:t>
            </a:r>
            <a:endParaRPr lang="en-US" sz="1200" dirty="0"/>
          </a:p>
        </p:txBody>
      </p:sp>
      <p:sp>
        <p:nvSpPr>
          <p:cNvPr id="36" name="Text 34"/>
          <p:cNvSpPr/>
          <p:nvPr/>
        </p:nvSpPr>
        <p:spPr>
          <a:xfrm>
            <a:off x="7223760" y="5129784"/>
            <a:ext cx="4297680" cy="301752"/>
          </a:xfrm>
          <a:prstGeom prst="rect">
            <a:avLst/>
          </a:prstGeom>
          <a:noFill/>
          <a:ln/>
        </p:spPr>
        <p:txBody>
          <a:bodyPr wrap="square" lIns="0" tIns="0" rIns="0" bIns="0" rtlCol="0" anchor="ctr"/>
          <a:lstStyle/>
          <a:p>
            <a:pPr indent="0" marL="0">
              <a:buNone/>
            </a:pPr>
            <a:r>
              <a:rPr lang="en-US" sz="1200" dirty="0">
                <a:solidFill>
                  <a:srgbClr val="065A82"/>
                </a:solidFill>
                <a:latin typeface="Calibri" pitchFamily="34" charset="0"/>
                <a:ea typeface="Calibri" pitchFamily="34" charset="-122"/>
                <a:cs typeface="Calibri" pitchFamily="34" charset="-120"/>
              </a:rPr>
              <a:t>Deny-by-default RBAC, audited</a:t>
            </a:r>
            <a:endParaRPr lang="en-US" sz="1200" dirty="0"/>
          </a:p>
        </p:txBody>
      </p:sp>
      <p:sp>
        <p:nvSpPr>
          <p:cNvPr id="37" name="Text 35"/>
          <p:cNvSpPr/>
          <p:nvPr/>
        </p:nvSpPr>
        <p:spPr>
          <a:xfrm>
            <a:off x="548640" y="5806440"/>
            <a:ext cx="11064240" cy="320040"/>
          </a:xfrm>
          <a:prstGeom prst="rect">
            <a:avLst/>
          </a:prstGeom>
          <a:noFill/>
          <a:ln/>
        </p:spPr>
        <p:txBody>
          <a:bodyPr wrap="square" lIns="0" tIns="0" rIns="0" bIns="0" rtlCol="0" anchor="ctr"/>
          <a:lstStyle/>
          <a:p>
            <a:pPr indent="0" marL="0">
              <a:buNone/>
            </a:pPr>
            <a:r>
              <a:rPr lang="en-US" sz="1250" i="1" dirty="0">
                <a:solidFill>
                  <a:srgbClr val="5B6B7A"/>
                </a:solidFill>
                <a:latin typeface="Calibri" pitchFamily="34" charset="0"/>
                <a:ea typeface="Calibri" pitchFamily="34" charset="-122"/>
                <a:cs typeface="Calibri" pitchFamily="34" charset="-120"/>
              </a:rPr>
              <a:t>15 threats modelled in OWASP Threat Dragon · 12 mitigated · 3 accepted and documented as residual risk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TESTING</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145 passing tests, each mapped to a threat</a:t>
            </a:r>
            <a:endParaRPr lang="en-US" sz="3000" dirty="0"/>
          </a:p>
        </p:txBody>
      </p:sp>
      <p:sp>
        <p:nvSpPr>
          <p:cNvPr id="4" name="Shape 2"/>
          <p:cNvSpPr/>
          <p:nvPr/>
        </p:nvSpPr>
        <p:spPr>
          <a:xfrm>
            <a:off x="548640" y="1600200"/>
            <a:ext cx="2606040" cy="1234440"/>
          </a:xfrm>
          <a:prstGeom prst="roundRect">
            <a:avLst>
              <a:gd name="adj" fmla="val 5926"/>
            </a:avLst>
          </a:prstGeom>
          <a:solidFill>
            <a:srgbClr val="EEF4F8"/>
          </a:solidFill>
          <a:ln w="12700">
            <a:solidFill>
              <a:srgbClr val="DCE7EF"/>
            </a:solidFill>
            <a:prstDash val="solid"/>
          </a:ln>
        </p:spPr>
      </p:sp>
      <p:sp>
        <p:nvSpPr>
          <p:cNvPr id="5" name="Text 3"/>
          <p:cNvSpPr/>
          <p:nvPr/>
        </p:nvSpPr>
        <p:spPr>
          <a:xfrm>
            <a:off x="548640" y="1709928"/>
            <a:ext cx="2606040" cy="548640"/>
          </a:xfrm>
          <a:prstGeom prst="rect">
            <a:avLst/>
          </a:prstGeom>
          <a:noFill/>
          <a:ln/>
        </p:spPr>
        <p:txBody>
          <a:bodyPr wrap="square" lIns="0" tIns="0" rIns="0" bIns="0" rtlCol="0" anchor="ctr"/>
          <a:lstStyle/>
          <a:p>
            <a:pPr algn="ctr" indent="0" marL="0">
              <a:buNone/>
            </a:pPr>
            <a:r>
              <a:rPr lang="en-US" sz="3200" b="1" dirty="0">
                <a:solidFill>
                  <a:srgbClr val="065A82"/>
                </a:solidFill>
                <a:latin typeface="Cambria" pitchFamily="34" charset="0"/>
                <a:ea typeface="Cambria" pitchFamily="34" charset="-122"/>
                <a:cs typeface="Cambria" pitchFamily="34" charset="-120"/>
              </a:rPr>
              <a:t>145</a:t>
            </a:r>
            <a:endParaRPr lang="en-US" sz="3200" dirty="0"/>
          </a:p>
        </p:txBody>
      </p:sp>
      <p:sp>
        <p:nvSpPr>
          <p:cNvPr id="6" name="Text 4"/>
          <p:cNvSpPr/>
          <p:nvPr/>
        </p:nvSpPr>
        <p:spPr>
          <a:xfrm>
            <a:off x="685800" y="2286000"/>
            <a:ext cx="2331720" cy="457200"/>
          </a:xfrm>
          <a:prstGeom prst="rect">
            <a:avLst/>
          </a:prstGeom>
          <a:noFill/>
          <a:ln/>
        </p:spPr>
        <p:txBody>
          <a:bodyPr wrap="square" lIns="0" tIns="0" rIns="0" bIns="0" rtlCol="0" anchor="ctr"/>
          <a:lstStyle/>
          <a:p>
            <a:pPr algn="ctr" indent="0" marL="0">
              <a:lnSpc>
                <a:spcPts val="1400"/>
              </a:lnSpc>
              <a:buNone/>
            </a:pPr>
            <a:r>
              <a:rPr lang="en-US" sz="1150" dirty="0">
                <a:solidFill>
                  <a:srgbClr val="5B6B7A"/>
                </a:solidFill>
                <a:latin typeface="Calibri" pitchFamily="34" charset="0"/>
                <a:ea typeface="Calibri" pitchFamily="34" charset="-122"/>
                <a:cs typeface="Calibri" pitchFamily="34" charset="-120"/>
              </a:rPr>
              <a:t>automated tests, all passing</a:t>
            </a:r>
            <a:endParaRPr lang="en-US" sz="1150" dirty="0"/>
          </a:p>
        </p:txBody>
      </p:sp>
      <p:sp>
        <p:nvSpPr>
          <p:cNvPr id="7" name="Shape 5"/>
          <p:cNvSpPr/>
          <p:nvPr/>
        </p:nvSpPr>
        <p:spPr>
          <a:xfrm>
            <a:off x="3383280" y="1600200"/>
            <a:ext cx="2606040" cy="1234440"/>
          </a:xfrm>
          <a:prstGeom prst="roundRect">
            <a:avLst>
              <a:gd name="adj" fmla="val 5926"/>
            </a:avLst>
          </a:prstGeom>
          <a:solidFill>
            <a:srgbClr val="EEF4F8"/>
          </a:solidFill>
          <a:ln w="12700">
            <a:solidFill>
              <a:srgbClr val="DCE7EF"/>
            </a:solidFill>
            <a:prstDash val="solid"/>
          </a:ln>
        </p:spPr>
      </p:sp>
      <p:sp>
        <p:nvSpPr>
          <p:cNvPr id="8" name="Text 6"/>
          <p:cNvSpPr/>
          <p:nvPr/>
        </p:nvSpPr>
        <p:spPr>
          <a:xfrm>
            <a:off x="3383280" y="1709928"/>
            <a:ext cx="2606040" cy="548640"/>
          </a:xfrm>
          <a:prstGeom prst="rect">
            <a:avLst/>
          </a:prstGeom>
          <a:noFill/>
          <a:ln/>
        </p:spPr>
        <p:txBody>
          <a:bodyPr wrap="square" lIns="0" tIns="0" rIns="0" bIns="0" rtlCol="0" anchor="ctr"/>
          <a:lstStyle/>
          <a:p>
            <a:pPr algn="ctr" indent="0" marL="0">
              <a:buNone/>
            </a:pPr>
            <a:r>
              <a:rPr lang="en-US" sz="3200" b="1" dirty="0">
                <a:solidFill>
                  <a:srgbClr val="1C7293"/>
                </a:solidFill>
                <a:latin typeface="Cambria" pitchFamily="34" charset="0"/>
                <a:ea typeface="Cambria" pitchFamily="34" charset="-122"/>
                <a:cs typeface="Cambria" pitchFamily="34" charset="-120"/>
              </a:rPr>
              <a:t>6/6</a:t>
            </a:r>
            <a:endParaRPr lang="en-US" sz="3200" dirty="0"/>
          </a:p>
        </p:txBody>
      </p:sp>
      <p:sp>
        <p:nvSpPr>
          <p:cNvPr id="9" name="Text 7"/>
          <p:cNvSpPr/>
          <p:nvPr/>
        </p:nvSpPr>
        <p:spPr>
          <a:xfrm>
            <a:off x="3520440" y="2286000"/>
            <a:ext cx="2331720" cy="457200"/>
          </a:xfrm>
          <a:prstGeom prst="rect">
            <a:avLst/>
          </a:prstGeom>
          <a:noFill/>
          <a:ln/>
        </p:spPr>
        <p:txBody>
          <a:bodyPr wrap="square" lIns="0" tIns="0" rIns="0" bIns="0" rtlCol="0" anchor="ctr"/>
          <a:lstStyle/>
          <a:p>
            <a:pPr algn="ctr" indent="0" marL="0">
              <a:lnSpc>
                <a:spcPts val="1400"/>
              </a:lnSpc>
              <a:buNone/>
            </a:pPr>
            <a:r>
              <a:rPr lang="en-US" sz="1150" dirty="0">
                <a:solidFill>
                  <a:srgbClr val="5B6B7A"/>
                </a:solidFill>
                <a:latin typeface="Calibri" pitchFamily="34" charset="0"/>
                <a:ea typeface="Calibri" pitchFamily="34" charset="-122"/>
                <a:cs typeface="Calibri" pitchFamily="34" charset="-120"/>
              </a:rPr>
              <a:t>STRIDE categories covered</a:t>
            </a:r>
            <a:endParaRPr lang="en-US" sz="1150" dirty="0"/>
          </a:p>
        </p:txBody>
      </p:sp>
      <p:sp>
        <p:nvSpPr>
          <p:cNvPr id="10" name="Shape 8"/>
          <p:cNvSpPr/>
          <p:nvPr/>
        </p:nvSpPr>
        <p:spPr>
          <a:xfrm>
            <a:off x="6217920" y="1600200"/>
            <a:ext cx="2606040" cy="1234440"/>
          </a:xfrm>
          <a:prstGeom prst="roundRect">
            <a:avLst>
              <a:gd name="adj" fmla="val 5926"/>
            </a:avLst>
          </a:prstGeom>
          <a:solidFill>
            <a:srgbClr val="EEF4F8"/>
          </a:solidFill>
          <a:ln w="12700">
            <a:solidFill>
              <a:srgbClr val="DCE7EF"/>
            </a:solidFill>
            <a:prstDash val="solid"/>
          </a:ln>
        </p:spPr>
      </p:sp>
      <p:sp>
        <p:nvSpPr>
          <p:cNvPr id="11" name="Text 9"/>
          <p:cNvSpPr/>
          <p:nvPr/>
        </p:nvSpPr>
        <p:spPr>
          <a:xfrm>
            <a:off x="6217920" y="1709928"/>
            <a:ext cx="2606040" cy="548640"/>
          </a:xfrm>
          <a:prstGeom prst="rect">
            <a:avLst/>
          </a:prstGeom>
          <a:noFill/>
          <a:ln/>
        </p:spPr>
        <p:txBody>
          <a:bodyPr wrap="square" lIns="0" tIns="0" rIns="0" bIns="0" rtlCol="0" anchor="ctr"/>
          <a:lstStyle/>
          <a:p>
            <a:pPr algn="ctr" indent="0" marL="0">
              <a:buNone/>
            </a:pPr>
            <a:r>
              <a:rPr lang="en-US" sz="3200" b="1" dirty="0">
                <a:solidFill>
                  <a:srgbClr val="1E8449"/>
                </a:solidFill>
                <a:latin typeface="Cambria" pitchFamily="34" charset="0"/>
                <a:ea typeface="Cambria" pitchFamily="34" charset="-122"/>
                <a:cs typeface="Cambria" pitchFamily="34" charset="-120"/>
              </a:rPr>
              <a:t>0</a:t>
            </a:r>
            <a:endParaRPr lang="en-US" sz="3200" dirty="0"/>
          </a:p>
        </p:txBody>
      </p:sp>
      <p:sp>
        <p:nvSpPr>
          <p:cNvPr id="12" name="Text 10"/>
          <p:cNvSpPr/>
          <p:nvPr/>
        </p:nvSpPr>
        <p:spPr>
          <a:xfrm>
            <a:off x="6355080" y="2286000"/>
            <a:ext cx="2331720" cy="457200"/>
          </a:xfrm>
          <a:prstGeom prst="rect">
            <a:avLst/>
          </a:prstGeom>
          <a:noFill/>
          <a:ln/>
        </p:spPr>
        <p:txBody>
          <a:bodyPr wrap="square" lIns="0" tIns="0" rIns="0" bIns="0" rtlCol="0" anchor="ctr"/>
          <a:lstStyle/>
          <a:p>
            <a:pPr algn="ctr" indent="0" marL="0">
              <a:lnSpc>
                <a:spcPts val="1400"/>
              </a:lnSpc>
              <a:buNone/>
            </a:pPr>
            <a:r>
              <a:rPr lang="en-US" sz="1150" dirty="0">
                <a:solidFill>
                  <a:srgbClr val="5B6B7A"/>
                </a:solidFill>
                <a:latin typeface="Calibri" pitchFamily="34" charset="0"/>
                <a:ea typeface="Calibri" pitchFamily="34" charset="-122"/>
                <a:cs typeface="Calibri" pitchFamily="34" charset="-120"/>
              </a:rPr>
              <a:t>Bandit findings in 428 lines</a:t>
            </a:r>
            <a:endParaRPr lang="en-US" sz="1150" dirty="0"/>
          </a:p>
        </p:txBody>
      </p:sp>
      <p:sp>
        <p:nvSpPr>
          <p:cNvPr id="13" name="Shape 11"/>
          <p:cNvSpPr/>
          <p:nvPr/>
        </p:nvSpPr>
        <p:spPr>
          <a:xfrm>
            <a:off x="9052560" y="1600200"/>
            <a:ext cx="2606040" cy="1234440"/>
          </a:xfrm>
          <a:prstGeom prst="roundRect">
            <a:avLst>
              <a:gd name="adj" fmla="val 5926"/>
            </a:avLst>
          </a:prstGeom>
          <a:solidFill>
            <a:srgbClr val="EEF4F8"/>
          </a:solidFill>
          <a:ln w="12700">
            <a:solidFill>
              <a:srgbClr val="DCE7EF"/>
            </a:solidFill>
            <a:prstDash val="solid"/>
          </a:ln>
        </p:spPr>
      </p:sp>
      <p:sp>
        <p:nvSpPr>
          <p:cNvPr id="14" name="Text 12"/>
          <p:cNvSpPr/>
          <p:nvPr/>
        </p:nvSpPr>
        <p:spPr>
          <a:xfrm>
            <a:off x="9052560" y="1709928"/>
            <a:ext cx="2606040" cy="548640"/>
          </a:xfrm>
          <a:prstGeom prst="rect">
            <a:avLst/>
          </a:prstGeom>
          <a:noFill/>
          <a:ln/>
        </p:spPr>
        <p:txBody>
          <a:bodyPr wrap="square" lIns="0" tIns="0" rIns="0" bIns="0" rtlCol="0" anchor="ctr"/>
          <a:lstStyle/>
          <a:p>
            <a:pPr algn="ctr" indent="0" marL="0">
              <a:buNone/>
            </a:pPr>
            <a:r>
              <a:rPr lang="en-US" sz="3200" b="1" dirty="0">
                <a:solidFill>
                  <a:srgbClr val="1E8449"/>
                </a:solidFill>
                <a:latin typeface="Cambria" pitchFamily="34" charset="0"/>
                <a:ea typeface="Cambria" pitchFamily="34" charset="-122"/>
                <a:cs typeface="Cambria" pitchFamily="34" charset="-120"/>
              </a:rPr>
              <a:t>0</a:t>
            </a:r>
            <a:endParaRPr lang="en-US" sz="3200" dirty="0"/>
          </a:p>
        </p:txBody>
      </p:sp>
      <p:sp>
        <p:nvSpPr>
          <p:cNvPr id="15" name="Text 13"/>
          <p:cNvSpPr/>
          <p:nvPr/>
        </p:nvSpPr>
        <p:spPr>
          <a:xfrm>
            <a:off x="9189720" y="2286000"/>
            <a:ext cx="2331720" cy="457200"/>
          </a:xfrm>
          <a:prstGeom prst="rect">
            <a:avLst/>
          </a:prstGeom>
          <a:noFill/>
          <a:ln/>
        </p:spPr>
        <p:txBody>
          <a:bodyPr wrap="square" lIns="0" tIns="0" rIns="0" bIns="0" rtlCol="0" anchor="ctr"/>
          <a:lstStyle/>
          <a:p>
            <a:pPr algn="ctr" indent="0" marL="0">
              <a:lnSpc>
                <a:spcPts val="1400"/>
              </a:lnSpc>
              <a:buNone/>
            </a:pPr>
            <a:r>
              <a:rPr lang="en-US" sz="1150" dirty="0">
                <a:solidFill>
                  <a:srgbClr val="5B6B7A"/>
                </a:solidFill>
                <a:latin typeface="Calibri" pitchFamily="34" charset="0"/>
                <a:ea typeface="Calibri" pitchFamily="34" charset="-122"/>
                <a:cs typeface="Calibri" pitchFamily="34" charset="-120"/>
              </a:rPr>
              <a:t>high-risk ZAP findings</a:t>
            </a:r>
            <a:endParaRPr lang="en-US" sz="1150" dirty="0"/>
          </a:p>
        </p:txBody>
      </p:sp>
      <p:sp>
        <p:nvSpPr>
          <p:cNvPr id="16" name="Text 14"/>
          <p:cNvSpPr/>
          <p:nvPr/>
        </p:nvSpPr>
        <p:spPr>
          <a:xfrm>
            <a:off x="548640" y="3063240"/>
            <a:ext cx="7315200" cy="320040"/>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Attack scenarios run against the deployed system</a:t>
            </a:r>
            <a:endParaRPr lang="en-US" sz="1500" dirty="0"/>
          </a:p>
        </p:txBody>
      </p:sp>
      <p:sp>
        <p:nvSpPr>
          <p:cNvPr id="17" name="Shape 15"/>
          <p:cNvSpPr/>
          <p:nvPr/>
        </p:nvSpPr>
        <p:spPr>
          <a:xfrm>
            <a:off x="548640" y="3575304"/>
            <a:ext cx="201168" cy="201168"/>
          </a:xfrm>
          <a:prstGeom prst="ellipse">
            <a:avLst/>
          </a:prstGeom>
          <a:solidFill>
            <a:srgbClr val="1E8449"/>
          </a:solidFill>
          <a:ln/>
        </p:spPr>
      </p:sp>
      <p:sp>
        <p:nvSpPr>
          <p:cNvPr id="18" name="Text 16"/>
          <p:cNvSpPr/>
          <p:nvPr/>
        </p:nvSpPr>
        <p:spPr>
          <a:xfrm>
            <a:off x="896112" y="3493008"/>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Unauthenticated request</a:t>
            </a:r>
            <a:endParaRPr lang="en-US" sz="1250" dirty="0"/>
          </a:p>
        </p:txBody>
      </p:sp>
      <p:sp>
        <p:nvSpPr>
          <p:cNvPr id="19" name="Text 17"/>
          <p:cNvSpPr/>
          <p:nvPr/>
        </p:nvSpPr>
        <p:spPr>
          <a:xfrm>
            <a:off x="896112" y="3767328"/>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401 — blocked at the gateway</a:t>
            </a:r>
            <a:endParaRPr lang="en-US" sz="1150" dirty="0"/>
          </a:p>
        </p:txBody>
      </p:sp>
      <p:sp>
        <p:nvSpPr>
          <p:cNvPr id="20" name="Shape 18"/>
          <p:cNvSpPr/>
          <p:nvPr/>
        </p:nvSpPr>
        <p:spPr>
          <a:xfrm>
            <a:off x="6217920" y="3575304"/>
            <a:ext cx="201168" cy="201168"/>
          </a:xfrm>
          <a:prstGeom prst="ellipse">
            <a:avLst/>
          </a:prstGeom>
          <a:solidFill>
            <a:srgbClr val="1E8449"/>
          </a:solidFill>
          <a:ln/>
        </p:spPr>
      </p:sp>
      <p:sp>
        <p:nvSpPr>
          <p:cNvPr id="21" name="Text 19"/>
          <p:cNvSpPr/>
          <p:nvPr/>
        </p:nvSpPr>
        <p:spPr>
          <a:xfrm>
            <a:off x="6565392" y="3493008"/>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SQL and XSS payloads in every field</a:t>
            </a:r>
            <a:endParaRPr lang="en-US" sz="1250" dirty="0"/>
          </a:p>
        </p:txBody>
      </p:sp>
      <p:sp>
        <p:nvSpPr>
          <p:cNvPr id="22" name="Text 20"/>
          <p:cNvSpPr/>
          <p:nvPr/>
        </p:nvSpPr>
        <p:spPr>
          <a:xfrm>
            <a:off x="6565392" y="3767328"/>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400 — rejected, never reflected back</a:t>
            </a:r>
            <a:endParaRPr lang="en-US" sz="1150" dirty="0"/>
          </a:p>
        </p:txBody>
      </p:sp>
      <p:sp>
        <p:nvSpPr>
          <p:cNvPr id="23" name="Shape 21"/>
          <p:cNvSpPr/>
          <p:nvPr/>
        </p:nvSpPr>
        <p:spPr>
          <a:xfrm>
            <a:off x="548640" y="4288536"/>
            <a:ext cx="201168" cy="201168"/>
          </a:xfrm>
          <a:prstGeom prst="ellipse">
            <a:avLst/>
          </a:prstGeom>
          <a:solidFill>
            <a:srgbClr val="1E8449"/>
          </a:solidFill>
          <a:ln/>
        </p:spPr>
      </p:sp>
      <p:sp>
        <p:nvSpPr>
          <p:cNvPr id="24" name="Text 22"/>
          <p:cNvSpPr/>
          <p:nvPr/>
        </p:nvSpPr>
        <p:spPr>
          <a:xfrm>
            <a:off x="896112" y="4206240"/>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Mass assignment of is_admin</a:t>
            </a:r>
            <a:endParaRPr lang="en-US" sz="1250" dirty="0"/>
          </a:p>
        </p:txBody>
      </p:sp>
      <p:sp>
        <p:nvSpPr>
          <p:cNvPr id="25" name="Text 23"/>
          <p:cNvSpPr/>
          <p:nvPr/>
        </p:nvSpPr>
        <p:spPr>
          <a:xfrm>
            <a:off x="896112" y="4480560"/>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400 — unknown field refused</a:t>
            </a:r>
            <a:endParaRPr lang="en-US" sz="1150" dirty="0"/>
          </a:p>
        </p:txBody>
      </p:sp>
      <p:sp>
        <p:nvSpPr>
          <p:cNvPr id="26" name="Shape 24"/>
          <p:cNvSpPr/>
          <p:nvPr/>
        </p:nvSpPr>
        <p:spPr>
          <a:xfrm>
            <a:off x="6217920" y="4288536"/>
            <a:ext cx="201168" cy="201168"/>
          </a:xfrm>
          <a:prstGeom prst="ellipse">
            <a:avLst/>
          </a:prstGeom>
          <a:solidFill>
            <a:srgbClr val="1E8449"/>
          </a:solidFill>
          <a:ln/>
        </p:spPr>
      </p:sp>
      <p:sp>
        <p:nvSpPr>
          <p:cNvPr id="27" name="Text 25"/>
          <p:cNvSpPr/>
          <p:nvPr/>
        </p:nvSpPr>
        <p:spPr>
          <a:xfrm>
            <a:off x="6565392" y="4206240"/>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Receptionist creates a record</a:t>
            </a:r>
            <a:endParaRPr lang="en-US" sz="1250" dirty="0"/>
          </a:p>
        </p:txBody>
      </p:sp>
      <p:sp>
        <p:nvSpPr>
          <p:cNvPr id="28" name="Text 26"/>
          <p:cNvSpPr/>
          <p:nvPr/>
        </p:nvSpPr>
        <p:spPr>
          <a:xfrm>
            <a:off x="6565392" y="4480560"/>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403 — denied and audited</a:t>
            </a:r>
            <a:endParaRPr lang="en-US" sz="1150" dirty="0"/>
          </a:p>
        </p:txBody>
      </p:sp>
      <p:sp>
        <p:nvSpPr>
          <p:cNvPr id="29" name="Shape 27"/>
          <p:cNvSpPr/>
          <p:nvPr/>
        </p:nvSpPr>
        <p:spPr>
          <a:xfrm>
            <a:off x="548640" y="5001768"/>
            <a:ext cx="201168" cy="201168"/>
          </a:xfrm>
          <a:prstGeom prst="ellipse">
            <a:avLst/>
          </a:prstGeom>
          <a:solidFill>
            <a:srgbClr val="1E8449"/>
          </a:solidFill>
          <a:ln/>
        </p:spPr>
      </p:sp>
      <p:sp>
        <p:nvSpPr>
          <p:cNvPr id="30" name="Text 28"/>
          <p:cNvSpPr/>
          <p:nvPr/>
        </p:nvSpPr>
        <p:spPr>
          <a:xfrm>
            <a:off x="896112" y="4919472"/>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Record altered directly in DynamoDB</a:t>
            </a:r>
            <a:endParaRPr lang="en-US" sz="1250" dirty="0"/>
          </a:p>
        </p:txBody>
      </p:sp>
      <p:sp>
        <p:nvSpPr>
          <p:cNvPr id="31" name="Text 29"/>
          <p:cNvSpPr/>
          <p:nvPr/>
        </p:nvSpPr>
        <p:spPr>
          <a:xfrm>
            <a:off x="896112" y="5193792"/>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409 — integrity failure, record withheld</a:t>
            </a:r>
            <a:endParaRPr lang="en-US" sz="1150" dirty="0"/>
          </a:p>
        </p:txBody>
      </p:sp>
      <p:sp>
        <p:nvSpPr>
          <p:cNvPr id="32" name="Shape 30"/>
          <p:cNvSpPr/>
          <p:nvPr/>
        </p:nvSpPr>
        <p:spPr>
          <a:xfrm>
            <a:off x="6217920" y="5001768"/>
            <a:ext cx="201168" cy="201168"/>
          </a:xfrm>
          <a:prstGeom prst="ellipse">
            <a:avLst/>
          </a:prstGeom>
          <a:solidFill>
            <a:srgbClr val="1E8449"/>
          </a:solidFill>
          <a:ln/>
        </p:spPr>
      </p:sp>
      <p:sp>
        <p:nvSpPr>
          <p:cNvPr id="33" name="Text 31"/>
          <p:cNvSpPr/>
          <p:nvPr/>
        </p:nvSpPr>
        <p:spPr>
          <a:xfrm>
            <a:off x="6565392" y="4919472"/>
            <a:ext cx="5029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Doctor requests the audit log</a:t>
            </a:r>
            <a:endParaRPr lang="en-US" sz="1250" dirty="0"/>
          </a:p>
        </p:txBody>
      </p:sp>
      <p:sp>
        <p:nvSpPr>
          <p:cNvPr id="34" name="Text 32"/>
          <p:cNvSpPr/>
          <p:nvPr/>
        </p:nvSpPr>
        <p:spPr>
          <a:xfrm>
            <a:off x="6565392" y="5193792"/>
            <a:ext cx="502920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403 — Admin only</a:t>
            </a:r>
            <a:endParaRPr lang="en-US" sz="1150" dirty="0"/>
          </a:p>
        </p:txBody>
      </p:sp>
      <p:sp>
        <p:nvSpPr>
          <p:cNvPr id="35" name="Text 33"/>
          <p:cNvSpPr/>
          <p:nvPr/>
        </p:nvSpPr>
        <p:spPr>
          <a:xfrm>
            <a:off x="548640" y="5715000"/>
            <a:ext cx="11064240" cy="411480"/>
          </a:xfrm>
          <a:prstGeom prst="rect">
            <a:avLst/>
          </a:prstGeom>
          <a:noFill/>
          <a:ln/>
        </p:spPr>
        <p:txBody>
          <a:bodyPr wrap="square" lIns="0" tIns="0" rIns="0" bIns="0" rtlCol="0" anchor="ctr"/>
          <a:lstStyle/>
          <a:p>
            <a:pPr indent="0" marL="0">
              <a:lnSpc>
                <a:spcPts val="1500"/>
              </a:lnSpc>
              <a:buNone/>
            </a:pPr>
            <a:r>
              <a:rPr lang="en-US" sz="1200" i="1" dirty="0">
                <a:solidFill>
                  <a:srgbClr val="065A82"/>
                </a:solidFill>
                <a:latin typeface="Calibri" pitchFamily="34" charset="0"/>
                <a:ea typeface="Calibri" pitchFamily="34" charset="-122"/>
                <a:cs typeface="Calibri" pitchFamily="34" charset="-120"/>
              </a:rPr>
              <a:t>The suite also caught a real defect: one endpoint written before response handling was centralised was missing a security header. Manual checks had missed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280160" y="4206240"/>
            <a:ext cx="4206240" cy="4206240"/>
          </a:xfrm>
          <a:prstGeom prst="ellipse">
            <a:avLst/>
          </a:prstGeom>
          <a:solidFill>
            <a:srgbClr val="065A82">
              <a:alpha val="40000"/>
            </a:srgbClr>
          </a:solidFill>
          <a:ln/>
        </p:spPr>
      </p:sp>
      <p:sp>
        <p:nvSpPr>
          <p:cNvPr id="3" name="Text 1"/>
          <p:cNvSpPr/>
          <p:nvPr/>
        </p:nvSpPr>
        <p:spPr>
          <a:xfrm>
            <a:off x="914400" y="2148840"/>
            <a:ext cx="10058400" cy="320040"/>
          </a:xfrm>
          <a:prstGeom prst="rect">
            <a:avLst/>
          </a:prstGeom>
          <a:noFill/>
          <a:ln/>
        </p:spPr>
        <p:txBody>
          <a:bodyPr wrap="square" lIns="0" tIns="0" rIns="0" bIns="0" rtlCol="0" anchor="ctr"/>
          <a:lstStyle/>
          <a:p>
            <a:pPr indent="0" marL="0">
              <a:buNone/>
            </a:pPr>
            <a:r>
              <a:rPr lang="en-US" sz="1300" b="1" spc="300" kern="0" dirty="0">
                <a:solidFill>
                  <a:srgbClr val="6FA8C8"/>
                </a:solidFill>
                <a:latin typeface="Calibri" pitchFamily="34" charset="0"/>
                <a:ea typeface="Calibri" pitchFamily="34" charset="-122"/>
                <a:cs typeface="Calibri" pitchFamily="34" charset="-120"/>
              </a:rPr>
              <a:t>LIVE DEMONSTRATION</a:t>
            </a:r>
            <a:endParaRPr lang="en-US" sz="1300" dirty="0"/>
          </a:p>
        </p:txBody>
      </p:sp>
      <p:sp>
        <p:nvSpPr>
          <p:cNvPr id="4" name="Text 2"/>
          <p:cNvSpPr/>
          <p:nvPr/>
        </p:nvSpPr>
        <p:spPr>
          <a:xfrm>
            <a:off x="914400" y="2560320"/>
            <a:ext cx="10058400" cy="7772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system, running</a:t>
            </a:r>
            <a:endParaRPr lang="en-US" sz="4400" dirty="0"/>
          </a:p>
        </p:txBody>
      </p:sp>
      <p:sp>
        <p:nvSpPr>
          <p:cNvPr id="5" name="Shape 3"/>
          <p:cNvSpPr/>
          <p:nvPr/>
        </p:nvSpPr>
        <p:spPr>
          <a:xfrm>
            <a:off x="914400" y="3886200"/>
            <a:ext cx="384048" cy="384048"/>
          </a:xfrm>
          <a:prstGeom prst="ellipse">
            <a:avLst/>
          </a:prstGeom>
          <a:solidFill>
            <a:srgbClr val="1C7293"/>
          </a:solidFill>
          <a:ln/>
        </p:spPr>
      </p:sp>
      <p:sp>
        <p:nvSpPr>
          <p:cNvPr id="6" name="Text 4"/>
          <p:cNvSpPr/>
          <p:nvPr/>
        </p:nvSpPr>
        <p:spPr>
          <a:xfrm>
            <a:off x="91440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777240" y="4389120"/>
            <a:ext cx="2011680" cy="640080"/>
          </a:xfrm>
          <a:prstGeom prst="rect">
            <a:avLst/>
          </a:prstGeom>
          <a:noFill/>
          <a:ln/>
        </p:spPr>
        <p:txBody>
          <a:bodyPr wrap="square" lIns="0" tIns="0" rIns="0" bIns="0" rtlCol="0" anchor="ctr"/>
          <a:lstStyle/>
          <a:p>
            <a:pPr indent="0" marL="0">
              <a:lnSpc>
                <a:spcPts val="1400"/>
              </a:lnSpc>
              <a:buNone/>
            </a:pPr>
            <a:r>
              <a:rPr lang="en-US" sz="1150" dirty="0">
                <a:solidFill>
                  <a:srgbClr val="C9D6E2"/>
                </a:solidFill>
                <a:latin typeface="Calibri" pitchFamily="34" charset="0"/>
                <a:ea typeface="Calibri" pitchFamily="34" charset="-122"/>
                <a:cs typeface="Calibri" pitchFamily="34" charset="-120"/>
              </a:rPr>
              <a:t>Sign in with MFA</a:t>
            </a:r>
            <a:endParaRPr lang="en-US" sz="1150" dirty="0"/>
          </a:p>
        </p:txBody>
      </p:sp>
      <p:sp>
        <p:nvSpPr>
          <p:cNvPr id="8" name="Shape 6"/>
          <p:cNvSpPr/>
          <p:nvPr/>
        </p:nvSpPr>
        <p:spPr>
          <a:xfrm>
            <a:off x="3063240" y="3886200"/>
            <a:ext cx="384048" cy="384048"/>
          </a:xfrm>
          <a:prstGeom prst="ellipse">
            <a:avLst/>
          </a:prstGeom>
          <a:solidFill>
            <a:srgbClr val="1C7293"/>
          </a:solidFill>
          <a:ln/>
        </p:spPr>
      </p:sp>
      <p:sp>
        <p:nvSpPr>
          <p:cNvPr id="9" name="Text 7"/>
          <p:cNvSpPr/>
          <p:nvPr/>
        </p:nvSpPr>
        <p:spPr>
          <a:xfrm>
            <a:off x="30632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2926080" y="4389120"/>
            <a:ext cx="2011680" cy="640080"/>
          </a:xfrm>
          <a:prstGeom prst="rect">
            <a:avLst/>
          </a:prstGeom>
          <a:noFill/>
          <a:ln/>
        </p:spPr>
        <p:txBody>
          <a:bodyPr wrap="square" lIns="0" tIns="0" rIns="0" bIns="0" rtlCol="0" anchor="ctr"/>
          <a:lstStyle/>
          <a:p>
            <a:pPr indent="0" marL="0">
              <a:lnSpc>
                <a:spcPts val="1400"/>
              </a:lnSpc>
              <a:buNone/>
            </a:pPr>
            <a:r>
              <a:rPr lang="en-US" sz="1150" dirty="0">
                <a:solidFill>
                  <a:srgbClr val="C9D6E2"/>
                </a:solidFill>
                <a:latin typeface="Calibri" pitchFamily="34" charset="0"/>
                <a:ea typeface="Calibri" pitchFamily="34" charset="-122"/>
                <a:cs typeface="Calibri" pitchFamily="34" charset="-120"/>
              </a:rPr>
              <a:t>Doctor view vs Receptionist view</a:t>
            </a:r>
            <a:endParaRPr lang="en-US" sz="1150" dirty="0"/>
          </a:p>
        </p:txBody>
      </p:sp>
      <p:sp>
        <p:nvSpPr>
          <p:cNvPr id="11" name="Shape 9"/>
          <p:cNvSpPr/>
          <p:nvPr/>
        </p:nvSpPr>
        <p:spPr>
          <a:xfrm>
            <a:off x="5212080" y="3886200"/>
            <a:ext cx="384048" cy="384048"/>
          </a:xfrm>
          <a:prstGeom prst="ellipse">
            <a:avLst/>
          </a:prstGeom>
          <a:solidFill>
            <a:srgbClr val="1C7293"/>
          </a:solidFill>
          <a:ln/>
        </p:spPr>
      </p:sp>
      <p:sp>
        <p:nvSpPr>
          <p:cNvPr id="12" name="Text 10"/>
          <p:cNvSpPr/>
          <p:nvPr/>
        </p:nvSpPr>
        <p:spPr>
          <a:xfrm>
            <a:off x="521208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5074920" y="4389120"/>
            <a:ext cx="2011680" cy="640080"/>
          </a:xfrm>
          <a:prstGeom prst="rect">
            <a:avLst/>
          </a:prstGeom>
          <a:noFill/>
          <a:ln/>
        </p:spPr>
        <p:txBody>
          <a:bodyPr wrap="square" lIns="0" tIns="0" rIns="0" bIns="0" rtlCol="0" anchor="ctr"/>
          <a:lstStyle/>
          <a:p>
            <a:pPr indent="0" marL="0">
              <a:lnSpc>
                <a:spcPts val="1400"/>
              </a:lnSpc>
              <a:buNone/>
            </a:pPr>
            <a:r>
              <a:rPr lang="en-US" sz="1150" dirty="0">
                <a:solidFill>
                  <a:srgbClr val="C9D6E2"/>
                </a:solidFill>
                <a:latin typeface="Calibri" pitchFamily="34" charset="0"/>
                <a:ea typeface="Calibri" pitchFamily="34" charset="-122"/>
                <a:cs typeface="Calibri" pitchFamily="34" charset="-120"/>
              </a:rPr>
              <a:t>Blocked attack attempts</a:t>
            </a:r>
            <a:endParaRPr lang="en-US" sz="1150" dirty="0"/>
          </a:p>
        </p:txBody>
      </p:sp>
      <p:sp>
        <p:nvSpPr>
          <p:cNvPr id="14" name="Shape 12"/>
          <p:cNvSpPr/>
          <p:nvPr/>
        </p:nvSpPr>
        <p:spPr>
          <a:xfrm>
            <a:off x="7360920" y="3886200"/>
            <a:ext cx="384048" cy="384048"/>
          </a:xfrm>
          <a:prstGeom prst="ellipse">
            <a:avLst/>
          </a:prstGeom>
          <a:solidFill>
            <a:srgbClr val="1C7293"/>
          </a:solidFill>
          <a:ln/>
        </p:spPr>
      </p:sp>
      <p:sp>
        <p:nvSpPr>
          <p:cNvPr id="15" name="Text 13"/>
          <p:cNvSpPr/>
          <p:nvPr/>
        </p:nvSpPr>
        <p:spPr>
          <a:xfrm>
            <a:off x="736092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7223760" y="4389120"/>
            <a:ext cx="2011680" cy="640080"/>
          </a:xfrm>
          <a:prstGeom prst="rect">
            <a:avLst/>
          </a:prstGeom>
          <a:noFill/>
          <a:ln/>
        </p:spPr>
        <p:txBody>
          <a:bodyPr wrap="square" lIns="0" tIns="0" rIns="0" bIns="0" rtlCol="0" anchor="ctr"/>
          <a:lstStyle/>
          <a:p>
            <a:pPr indent="0" marL="0">
              <a:lnSpc>
                <a:spcPts val="1400"/>
              </a:lnSpc>
              <a:buNone/>
            </a:pPr>
            <a:r>
              <a:rPr lang="en-US" sz="1150" dirty="0">
                <a:solidFill>
                  <a:srgbClr val="C9D6E2"/>
                </a:solidFill>
                <a:latin typeface="Calibri" pitchFamily="34" charset="0"/>
                <a:ea typeface="Calibri" pitchFamily="34" charset="-122"/>
                <a:cs typeface="Calibri" pitchFamily="34" charset="-120"/>
              </a:rPr>
              <a:t>Tamper, detect, restore</a:t>
            </a:r>
            <a:endParaRPr lang="en-US" sz="1150" dirty="0"/>
          </a:p>
        </p:txBody>
      </p:sp>
      <p:sp>
        <p:nvSpPr>
          <p:cNvPr id="17" name="Shape 15"/>
          <p:cNvSpPr/>
          <p:nvPr/>
        </p:nvSpPr>
        <p:spPr>
          <a:xfrm>
            <a:off x="9509760" y="3886200"/>
            <a:ext cx="384048" cy="384048"/>
          </a:xfrm>
          <a:prstGeom prst="ellipse">
            <a:avLst/>
          </a:prstGeom>
          <a:solidFill>
            <a:srgbClr val="1C7293"/>
          </a:solidFill>
          <a:ln/>
        </p:spPr>
      </p:sp>
      <p:sp>
        <p:nvSpPr>
          <p:cNvPr id="18" name="Text 16"/>
          <p:cNvSpPr/>
          <p:nvPr/>
        </p:nvSpPr>
        <p:spPr>
          <a:xfrm>
            <a:off x="950976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9372600" y="4389120"/>
            <a:ext cx="2011680" cy="640080"/>
          </a:xfrm>
          <a:prstGeom prst="rect">
            <a:avLst/>
          </a:prstGeom>
          <a:noFill/>
          <a:ln/>
        </p:spPr>
        <p:txBody>
          <a:bodyPr wrap="square" lIns="0" tIns="0" rIns="0" bIns="0" rtlCol="0" anchor="ctr"/>
          <a:lstStyle/>
          <a:p>
            <a:pPr indent="0" marL="0">
              <a:lnSpc>
                <a:spcPts val="1400"/>
              </a:lnSpc>
              <a:buNone/>
            </a:pPr>
            <a:r>
              <a:rPr lang="en-US" sz="1150" dirty="0">
                <a:solidFill>
                  <a:srgbClr val="C9D6E2"/>
                </a:solidFill>
                <a:latin typeface="Calibri" pitchFamily="34" charset="0"/>
                <a:ea typeface="Calibri" pitchFamily="34" charset="-122"/>
                <a:cs typeface="Calibri" pitchFamily="34" charset="-120"/>
              </a:rPr>
              <a:t>Audit log and dashboard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DEMONSTRATION WALKTHROUGH</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the demo shows</a:t>
            </a:r>
            <a:endParaRPr lang="en-US" sz="3000" dirty="0"/>
          </a:p>
        </p:txBody>
      </p:sp>
      <p:sp>
        <p:nvSpPr>
          <p:cNvPr id="4" name="Shape 2"/>
          <p:cNvSpPr/>
          <p:nvPr/>
        </p:nvSpPr>
        <p:spPr>
          <a:xfrm>
            <a:off x="548640" y="1554480"/>
            <a:ext cx="11064240" cy="621792"/>
          </a:xfrm>
          <a:prstGeom prst="roundRect">
            <a:avLst>
              <a:gd name="adj" fmla="val 11765"/>
            </a:avLst>
          </a:prstGeom>
          <a:solidFill>
            <a:srgbClr val="EEF4F8"/>
          </a:solidFill>
          <a:ln w="12700">
            <a:solidFill>
              <a:srgbClr val="EEF4F8"/>
            </a:solidFill>
            <a:prstDash val="solid"/>
          </a:ln>
        </p:spPr>
      </p:sp>
      <p:sp>
        <p:nvSpPr>
          <p:cNvPr id="5" name="Shape 3"/>
          <p:cNvSpPr/>
          <p:nvPr/>
        </p:nvSpPr>
        <p:spPr>
          <a:xfrm>
            <a:off x="804672" y="1728216"/>
            <a:ext cx="274320" cy="274320"/>
          </a:xfrm>
          <a:prstGeom prst="ellipse">
            <a:avLst/>
          </a:prstGeom>
          <a:solidFill>
            <a:srgbClr val="065A82"/>
          </a:solidFill>
          <a:ln/>
        </p:spPr>
      </p:sp>
      <p:sp>
        <p:nvSpPr>
          <p:cNvPr id="6" name="Text 4"/>
          <p:cNvSpPr/>
          <p:nvPr/>
        </p:nvSpPr>
        <p:spPr>
          <a:xfrm>
            <a:off x="1234440" y="160020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Authentication</a:t>
            </a:r>
            <a:endParaRPr lang="en-US" sz="1350" dirty="0"/>
          </a:p>
        </p:txBody>
      </p:sp>
      <p:sp>
        <p:nvSpPr>
          <p:cNvPr id="7" name="Text 5"/>
          <p:cNvSpPr/>
          <p:nvPr/>
        </p:nvSpPr>
        <p:spPr>
          <a:xfrm>
            <a:off x="4114800" y="160020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Password alone is refused; a TOTP code is required every time</a:t>
            </a:r>
            <a:endParaRPr lang="en-US" sz="1200" dirty="0"/>
          </a:p>
        </p:txBody>
      </p:sp>
      <p:sp>
        <p:nvSpPr>
          <p:cNvPr id="8" name="Shape 6"/>
          <p:cNvSpPr/>
          <p:nvPr/>
        </p:nvSpPr>
        <p:spPr>
          <a:xfrm>
            <a:off x="548640" y="2286000"/>
            <a:ext cx="11064240" cy="621792"/>
          </a:xfrm>
          <a:prstGeom prst="roundRect">
            <a:avLst>
              <a:gd name="adj" fmla="val 11765"/>
            </a:avLst>
          </a:prstGeom>
          <a:solidFill>
            <a:srgbClr val="F7FAFC"/>
          </a:solidFill>
          <a:ln w="12700">
            <a:solidFill>
              <a:srgbClr val="F7FAFC"/>
            </a:solidFill>
            <a:prstDash val="solid"/>
          </a:ln>
        </p:spPr>
      </p:sp>
      <p:sp>
        <p:nvSpPr>
          <p:cNvPr id="9" name="Shape 7"/>
          <p:cNvSpPr/>
          <p:nvPr/>
        </p:nvSpPr>
        <p:spPr>
          <a:xfrm>
            <a:off x="804672" y="2459736"/>
            <a:ext cx="274320" cy="274320"/>
          </a:xfrm>
          <a:prstGeom prst="ellipse">
            <a:avLst/>
          </a:prstGeom>
          <a:solidFill>
            <a:srgbClr val="1C7293"/>
          </a:solidFill>
          <a:ln/>
        </p:spPr>
      </p:sp>
      <p:sp>
        <p:nvSpPr>
          <p:cNvPr id="10" name="Text 8"/>
          <p:cNvSpPr/>
          <p:nvPr/>
        </p:nvSpPr>
        <p:spPr>
          <a:xfrm>
            <a:off x="1234440" y="233172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Role separation</a:t>
            </a:r>
            <a:endParaRPr lang="en-US" sz="1350" dirty="0"/>
          </a:p>
        </p:txBody>
      </p:sp>
      <p:sp>
        <p:nvSpPr>
          <p:cNvPr id="11" name="Text 9"/>
          <p:cNvSpPr/>
          <p:nvPr/>
        </p:nvSpPr>
        <p:spPr>
          <a:xfrm>
            <a:off x="4114800" y="233172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The same record shows clinical notes to a Doctor and [REDACTED] to a Receptionist</a:t>
            </a:r>
            <a:endParaRPr lang="en-US" sz="1200" dirty="0"/>
          </a:p>
        </p:txBody>
      </p:sp>
      <p:sp>
        <p:nvSpPr>
          <p:cNvPr id="12" name="Shape 10"/>
          <p:cNvSpPr/>
          <p:nvPr/>
        </p:nvSpPr>
        <p:spPr>
          <a:xfrm>
            <a:off x="548640" y="3017520"/>
            <a:ext cx="11064240" cy="621792"/>
          </a:xfrm>
          <a:prstGeom prst="roundRect">
            <a:avLst>
              <a:gd name="adj" fmla="val 11765"/>
            </a:avLst>
          </a:prstGeom>
          <a:solidFill>
            <a:srgbClr val="EEF4F8"/>
          </a:solidFill>
          <a:ln w="12700">
            <a:solidFill>
              <a:srgbClr val="EEF4F8"/>
            </a:solidFill>
            <a:prstDash val="solid"/>
          </a:ln>
        </p:spPr>
      </p:sp>
      <p:sp>
        <p:nvSpPr>
          <p:cNvPr id="13" name="Shape 11"/>
          <p:cNvSpPr/>
          <p:nvPr/>
        </p:nvSpPr>
        <p:spPr>
          <a:xfrm>
            <a:off x="804672" y="3191256"/>
            <a:ext cx="274320" cy="274320"/>
          </a:xfrm>
          <a:prstGeom prst="ellipse">
            <a:avLst/>
          </a:prstGeom>
          <a:solidFill>
            <a:srgbClr val="065A82"/>
          </a:solidFill>
          <a:ln/>
        </p:spPr>
      </p:sp>
      <p:sp>
        <p:nvSpPr>
          <p:cNvPr id="14" name="Text 12"/>
          <p:cNvSpPr/>
          <p:nvPr/>
        </p:nvSpPr>
        <p:spPr>
          <a:xfrm>
            <a:off x="1234440" y="306324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Server-side enforcement</a:t>
            </a:r>
            <a:endParaRPr lang="en-US" sz="1350" dirty="0"/>
          </a:p>
        </p:txBody>
      </p:sp>
      <p:sp>
        <p:nvSpPr>
          <p:cNvPr id="15" name="Text 13"/>
          <p:cNvSpPr/>
          <p:nvPr/>
        </p:nvSpPr>
        <p:spPr>
          <a:xfrm>
            <a:off x="4114800" y="306324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A Receptionist calling the API directly still gets 403 — the hidden button was never the control</a:t>
            </a:r>
            <a:endParaRPr lang="en-US" sz="1200" dirty="0"/>
          </a:p>
        </p:txBody>
      </p:sp>
      <p:sp>
        <p:nvSpPr>
          <p:cNvPr id="16" name="Shape 14"/>
          <p:cNvSpPr/>
          <p:nvPr/>
        </p:nvSpPr>
        <p:spPr>
          <a:xfrm>
            <a:off x="548640" y="3749040"/>
            <a:ext cx="11064240" cy="621792"/>
          </a:xfrm>
          <a:prstGeom prst="roundRect">
            <a:avLst>
              <a:gd name="adj" fmla="val 11765"/>
            </a:avLst>
          </a:prstGeom>
          <a:solidFill>
            <a:srgbClr val="F7FAFC"/>
          </a:solidFill>
          <a:ln w="12700">
            <a:solidFill>
              <a:srgbClr val="F7FAFC"/>
            </a:solidFill>
            <a:prstDash val="solid"/>
          </a:ln>
        </p:spPr>
      </p:sp>
      <p:sp>
        <p:nvSpPr>
          <p:cNvPr id="17" name="Shape 15"/>
          <p:cNvSpPr/>
          <p:nvPr/>
        </p:nvSpPr>
        <p:spPr>
          <a:xfrm>
            <a:off x="804672" y="3922776"/>
            <a:ext cx="274320" cy="274320"/>
          </a:xfrm>
          <a:prstGeom prst="ellipse">
            <a:avLst/>
          </a:prstGeom>
          <a:solidFill>
            <a:srgbClr val="1C7293"/>
          </a:solidFill>
          <a:ln/>
        </p:spPr>
      </p:sp>
      <p:sp>
        <p:nvSpPr>
          <p:cNvPr id="18" name="Text 16"/>
          <p:cNvSpPr/>
          <p:nvPr/>
        </p:nvSpPr>
        <p:spPr>
          <a:xfrm>
            <a:off x="1234440" y="379476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Encryption at rest</a:t>
            </a:r>
            <a:endParaRPr lang="en-US" sz="1350" dirty="0"/>
          </a:p>
        </p:txBody>
      </p:sp>
      <p:sp>
        <p:nvSpPr>
          <p:cNvPr id="19" name="Text 17"/>
          <p:cNvSpPr/>
          <p:nvPr/>
        </p:nvSpPr>
        <p:spPr>
          <a:xfrm>
            <a:off x="4114800" y="379476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The DynamoDB console shows ciphertext where the clinical note should be</a:t>
            </a:r>
            <a:endParaRPr lang="en-US" sz="1200" dirty="0"/>
          </a:p>
        </p:txBody>
      </p:sp>
      <p:sp>
        <p:nvSpPr>
          <p:cNvPr id="20" name="Shape 18"/>
          <p:cNvSpPr/>
          <p:nvPr/>
        </p:nvSpPr>
        <p:spPr>
          <a:xfrm>
            <a:off x="548640" y="4480560"/>
            <a:ext cx="11064240" cy="621792"/>
          </a:xfrm>
          <a:prstGeom prst="roundRect">
            <a:avLst>
              <a:gd name="adj" fmla="val 11765"/>
            </a:avLst>
          </a:prstGeom>
          <a:solidFill>
            <a:srgbClr val="EEF4F8"/>
          </a:solidFill>
          <a:ln w="12700">
            <a:solidFill>
              <a:srgbClr val="EEF4F8"/>
            </a:solidFill>
            <a:prstDash val="solid"/>
          </a:ln>
        </p:spPr>
      </p:sp>
      <p:sp>
        <p:nvSpPr>
          <p:cNvPr id="21" name="Shape 19"/>
          <p:cNvSpPr/>
          <p:nvPr/>
        </p:nvSpPr>
        <p:spPr>
          <a:xfrm>
            <a:off x="804672" y="4654296"/>
            <a:ext cx="274320" cy="274320"/>
          </a:xfrm>
          <a:prstGeom prst="ellipse">
            <a:avLst/>
          </a:prstGeom>
          <a:solidFill>
            <a:srgbClr val="C0392B"/>
          </a:solidFill>
          <a:ln/>
        </p:spPr>
      </p:sp>
      <p:sp>
        <p:nvSpPr>
          <p:cNvPr id="22" name="Text 20"/>
          <p:cNvSpPr/>
          <p:nvPr/>
        </p:nvSpPr>
        <p:spPr>
          <a:xfrm>
            <a:off x="1234440" y="452628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Tamper detection</a:t>
            </a:r>
            <a:endParaRPr lang="en-US" sz="1350" dirty="0"/>
          </a:p>
        </p:txBody>
      </p:sp>
      <p:sp>
        <p:nvSpPr>
          <p:cNvPr id="23" name="Text 21"/>
          <p:cNvSpPr/>
          <p:nvPr/>
        </p:nvSpPr>
        <p:spPr>
          <a:xfrm>
            <a:off x="4114800" y="452628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A record edited in the console returns 409 and is withheld; restoring it makes the record valid again</a:t>
            </a:r>
            <a:endParaRPr lang="en-US" sz="1200" dirty="0"/>
          </a:p>
        </p:txBody>
      </p:sp>
      <p:sp>
        <p:nvSpPr>
          <p:cNvPr id="24" name="Shape 22"/>
          <p:cNvSpPr/>
          <p:nvPr/>
        </p:nvSpPr>
        <p:spPr>
          <a:xfrm>
            <a:off x="548640" y="5212080"/>
            <a:ext cx="11064240" cy="621792"/>
          </a:xfrm>
          <a:prstGeom prst="roundRect">
            <a:avLst>
              <a:gd name="adj" fmla="val 11765"/>
            </a:avLst>
          </a:prstGeom>
          <a:solidFill>
            <a:srgbClr val="F7FAFC"/>
          </a:solidFill>
          <a:ln w="12700">
            <a:solidFill>
              <a:srgbClr val="F7FAFC"/>
            </a:solidFill>
            <a:prstDash val="solid"/>
          </a:ln>
        </p:spPr>
      </p:sp>
      <p:sp>
        <p:nvSpPr>
          <p:cNvPr id="25" name="Shape 23"/>
          <p:cNvSpPr/>
          <p:nvPr/>
        </p:nvSpPr>
        <p:spPr>
          <a:xfrm>
            <a:off x="804672" y="5385816"/>
            <a:ext cx="274320" cy="274320"/>
          </a:xfrm>
          <a:prstGeom prst="ellipse">
            <a:avLst/>
          </a:prstGeom>
          <a:solidFill>
            <a:srgbClr val="065A82"/>
          </a:solidFill>
          <a:ln/>
        </p:spPr>
      </p:sp>
      <p:sp>
        <p:nvSpPr>
          <p:cNvPr id="26" name="Text 24"/>
          <p:cNvSpPr/>
          <p:nvPr/>
        </p:nvSpPr>
        <p:spPr>
          <a:xfrm>
            <a:off x="1234440" y="5257800"/>
            <a:ext cx="2834640" cy="530352"/>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Accountability</a:t>
            </a:r>
            <a:endParaRPr lang="en-US" sz="1350" dirty="0"/>
          </a:p>
        </p:txBody>
      </p:sp>
      <p:sp>
        <p:nvSpPr>
          <p:cNvPr id="27" name="Text 25"/>
          <p:cNvSpPr/>
          <p:nvPr/>
        </p:nvSpPr>
        <p:spPr>
          <a:xfrm>
            <a:off x="4114800" y="5257800"/>
            <a:ext cx="7315200" cy="530352"/>
          </a:xfrm>
          <a:prstGeom prst="rect">
            <a:avLst/>
          </a:prstGeom>
          <a:noFill/>
          <a:ln/>
        </p:spPr>
        <p:txBody>
          <a:bodyPr wrap="square" lIns="0" tIns="0" rIns="0" bIns="0" rtlCol="0" anchor="ctr"/>
          <a:lstStyle/>
          <a:p>
            <a:pPr indent="0" marL="0">
              <a:buNone/>
            </a:pPr>
            <a:r>
              <a:rPr lang="en-US" sz="1200" dirty="0">
                <a:solidFill>
                  <a:srgbClr val="5B6B7A"/>
                </a:solidFill>
                <a:latin typeface="Calibri" pitchFamily="34" charset="0"/>
                <a:ea typeface="Calibri" pitchFamily="34" charset="-122"/>
                <a:cs typeface="Calibri" pitchFamily="34" charset="-120"/>
              </a:rPr>
              <a:t>Every action above — including each denial — appears in the audit log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MONITORING</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Security is watched, not assumed</a:t>
            </a:r>
            <a:endParaRPr lang="en-US" sz="3000" dirty="0"/>
          </a:p>
        </p:txBody>
      </p:sp>
      <p:sp>
        <p:nvSpPr>
          <p:cNvPr id="4" name="Shape 2"/>
          <p:cNvSpPr/>
          <p:nvPr/>
        </p:nvSpPr>
        <p:spPr>
          <a:xfrm>
            <a:off x="548640" y="1600200"/>
            <a:ext cx="5394960" cy="3108960"/>
          </a:xfrm>
          <a:prstGeom prst="roundRect">
            <a:avLst>
              <a:gd name="adj" fmla="val 2353"/>
            </a:avLst>
          </a:prstGeom>
          <a:solidFill>
            <a:srgbClr val="EEF4F8"/>
          </a:solidFill>
          <a:ln w="12700">
            <a:solidFill>
              <a:srgbClr val="DCE7EF"/>
            </a:solidFill>
            <a:prstDash val="solid"/>
          </a:ln>
        </p:spPr>
      </p:sp>
      <p:sp>
        <p:nvSpPr>
          <p:cNvPr id="5" name="Text 3"/>
          <p:cNvSpPr/>
          <p:nvPr/>
        </p:nvSpPr>
        <p:spPr>
          <a:xfrm>
            <a:off x="868680" y="1810512"/>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From log line to alarm</a:t>
            </a:r>
            <a:endParaRPr lang="en-US" sz="1500" dirty="0"/>
          </a:p>
        </p:txBody>
      </p:sp>
      <p:sp>
        <p:nvSpPr>
          <p:cNvPr id="6" name="Shape 4"/>
          <p:cNvSpPr/>
          <p:nvPr/>
        </p:nvSpPr>
        <p:spPr>
          <a:xfrm>
            <a:off x="868680" y="2212848"/>
            <a:ext cx="420624" cy="420624"/>
          </a:xfrm>
          <a:prstGeom prst="ellipse">
            <a:avLst/>
          </a:prstGeom>
          <a:solidFill>
            <a:srgbClr val="065A82"/>
          </a:solidFill>
          <a:ln/>
        </p:spPr>
      </p:sp>
      <p:sp>
        <p:nvSpPr>
          <p:cNvPr id="7" name="Text 5"/>
          <p:cNvSpPr/>
          <p:nvPr/>
        </p:nvSpPr>
        <p:spPr>
          <a:xfrm>
            <a:off x="868680" y="2212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463040" y="2231136"/>
            <a:ext cx="4206240" cy="38404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Handler prints a structured security event</a:t>
            </a:r>
            <a:endParaRPr lang="en-US" sz="1250" dirty="0"/>
          </a:p>
        </p:txBody>
      </p:sp>
      <p:sp>
        <p:nvSpPr>
          <p:cNvPr id="9" name="Shape 7"/>
          <p:cNvSpPr/>
          <p:nvPr/>
        </p:nvSpPr>
        <p:spPr>
          <a:xfrm>
            <a:off x="868680" y="2706624"/>
            <a:ext cx="420624" cy="420624"/>
          </a:xfrm>
          <a:prstGeom prst="ellipse">
            <a:avLst/>
          </a:prstGeom>
          <a:solidFill>
            <a:srgbClr val="1C7293"/>
          </a:solidFill>
          <a:ln/>
        </p:spPr>
      </p:sp>
      <p:sp>
        <p:nvSpPr>
          <p:cNvPr id="10" name="Text 8"/>
          <p:cNvSpPr/>
          <p:nvPr/>
        </p:nvSpPr>
        <p:spPr>
          <a:xfrm>
            <a:off x="868680" y="27066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463040" y="2724912"/>
            <a:ext cx="4206240" cy="38404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CloudWatch metric filter parses it</a:t>
            </a:r>
            <a:endParaRPr lang="en-US" sz="1250" dirty="0"/>
          </a:p>
        </p:txBody>
      </p:sp>
      <p:sp>
        <p:nvSpPr>
          <p:cNvPr id="12" name="Shape 10"/>
          <p:cNvSpPr/>
          <p:nvPr/>
        </p:nvSpPr>
        <p:spPr>
          <a:xfrm>
            <a:off x="868680" y="3200400"/>
            <a:ext cx="420624" cy="420624"/>
          </a:xfrm>
          <a:prstGeom prst="ellipse">
            <a:avLst/>
          </a:prstGeom>
          <a:solidFill>
            <a:srgbClr val="065A82"/>
          </a:solidFill>
          <a:ln/>
        </p:spPr>
      </p:sp>
      <p:sp>
        <p:nvSpPr>
          <p:cNvPr id="13" name="Text 11"/>
          <p:cNvSpPr/>
          <p:nvPr/>
        </p:nvSpPr>
        <p:spPr>
          <a:xfrm>
            <a:off x="868680" y="32004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463040" y="3218688"/>
            <a:ext cx="4206240" cy="38404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Custom metric feeds the dashboard</a:t>
            </a:r>
            <a:endParaRPr lang="en-US" sz="1250" dirty="0"/>
          </a:p>
        </p:txBody>
      </p:sp>
      <p:sp>
        <p:nvSpPr>
          <p:cNvPr id="15" name="Shape 13"/>
          <p:cNvSpPr/>
          <p:nvPr/>
        </p:nvSpPr>
        <p:spPr>
          <a:xfrm>
            <a:off x="868680" y="3694176"/>
            <a:ext cx="420624" cy="420624"/>
          </a:xfrm>
          <a:prstGeom prst="ellipse">
            <a:avLst/>
          </a:prstGeom>
          <a:solidFill>
            <a:srgbClr val="1C7293"/>
          </a:solidFill>
          <a:ln/>
        </p:spPr>
      </p:sp>
      <p:sp>
        <p:nvSpPr>
          <p:cNvPr id="16" name="Text 14"/>
          <p:cNvSpPr/>
          <p:nvPr/>
        </p:nvSpPr>
        <p:spPr>
          <a:xfrm>
            <a:off x="868680" y="3694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463040" y="3712464"/>
            <a:ext cx="4206240" cy="38404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Alarm publishes to an SNS topic</a:t>
            </a:r>
            <a:endParaRPr lang="en-US" sz="1250" dirty="0"/>
          </a:p>
        </p:txBody>
      </p:sp>
      <p:sp>
        <p:nvSpPr>
          <p:cNvPr id="18" name="Text 16"/>
          <p:cNvSpPr/>
          <p:nvPr/>
        </p:nvSpPr>
        <p:spPr>
          <a:xfrm>
            <a:off x="868680" y="4224528"/>
            <a:ext cx="4754880" cy="411480"/>
          </a:xfrm>
          <a:prstGeom prst="rect">
            <a:avLst/>
          </a:prstGeom>
          <a:noFill/>
          <a:ln/>
        </p:spPr>
        <p:txBody>
          <a:bodyPr wrap="square" lIns="0" tIns="0" rIns="0" bIns="0" rtlCol="0" anchor="ctr"/>
          <a:lstStyle/>
          <a:p>
            <a:pPr indent="0" marL="0">
              <a:lnSpc>
                <a:spcPts val="1400"/>
              </a:lnSpc>
              <a:buNone/>
            </a:pPr>
            <a:r>
              <a:rPr lang="en-US" sz="1100" i="1" dirty="0">
                <a:solidFill>
                  <a:srgbClr val="5B6B7A"/>
                </a:solidFill>
                <a:latin typeface="Calibri" pitchFamily="34" charset="0"/>
                <a:ea typeface="Calibri" pitchFamily="34" charset="-122"/>
                <a:cs typeface="Calibri" pitchFamily="34" charset="-120"/>
              </a:rPr>
              <a:t>Metrics are derived from logs, so monitoring adds no latency to a user's request.</a:t>
            </a:r>
            <a:endParaRPr lang="en-US" sz="1100" dirty="0"/>
          </a:p>
        </p:txBody>
      </p:sp>
      <p:sp>
        <p:nvSpPr>
          <p:cNvPr id="19" name="Shape 17"/>
          <p:cNvSpPr/>
          <p:nvPr/>
        </p:nvSpPr>
        <p:spPr>
          <a:xfrm>
            <a:off x="6217920" y="1600200"/>
            <a:ext cx="5394960" cy="3108960"/>
          </a:xfrm>
          <a:prstGeom prst="roundRect">
            <a:avLst>
              <a:gd name="adj" fmla="val 2353"/>
            </a:avLst>
          </a:prstGeom>
          <a:solidFill>
            <a:srgbClr val="EEF4F8"/>
          </a:solidFill>
          <a:ln w="12700">
            <a:solidFill>
              <a:srgbClr val="DCE7EF"/>
            </a:solidFill>
            <a:prstDash val="solid"/>
          </a:ln>
        </p:spPr>
      </p:sp>
      <p:sp>
        <p:nvSpPr>
          <p:cNvPr id="20" name="Text 18"/>
          <p:cNvSpPr/>
          <p:nvPr/>
        </p:nvSpPr>
        <p:spPr>
          <a:xfrm>
            <a:off x="6537960" y="1810512"/>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What we alarm on</a:t>
            </a:r>
            <a:endParaRPr lang="en-US" sz="1500" dirty="0"/>
          </a:p>
        </p:txBody>
      </p:sp>
      <p:sp>
        <p:nvSpPr>
          <p:cNvPr id="21" name="Text 19"/>
          <p:cNvSpPr/>
          <p:nvPr/>
        </p:nvSpPr>
        <p:spPr>
          <a:xfrm>
            <a:off x="6537960" y="224028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Record tampering</a:t>
            </a:r>
            <a:endParaRPr lang="en-US" sz="1250" dirty="0"/>
          </a:p>
        </p:txBody>
      </p:sp>
      <p:sp>
        <p:nvSpPr>
          <p:cNvPr id="22" name="Text 20"/>
          <p:cNvSpPr/>
          <p:nvPr/>
        </p:nvSpPr>
        <p:spPr>
          <a:xfrm>
            <a:off x="9875520" y="2240280"/>
            <a:ext cx="1554480" cy="292608"/>
          </a:xfrm>
          <a:prstGeom prst="rect">
            <a:avLst/>
          </a:prstGeom>
          <a:noFill/>
          <a:ln/>
        </p:spPr>
        <p:txBody>
          <a:bodyPr wrap="square" lIns="0" tIns="0" rIns="0" bIns="0" rtlCol="0" anchor="ctr"/>
          <a:lstStyle/>
          <a:p>
            <a:pPr algn="r" indent="0" marL="0">
              <a:buNone/>
            </a:pPr>
            <a:r>
              <a:rPr lang="en-US" sz="1200" b="1" dirty="0">
                <a:solidFill>
                  <a:srgbClr val="C0392B"/>
                </a:solidFill>
                <a:latin typeface="Calibri" pitchFamily="34" charset="0"/>
                <a:ea typeface="Calibri" pitchFamily="34" charset="-122"/>
                <a:cs typeface="Calibri" pitchFamily="34" charset="-120"/>
              </a:rPr>
              <a:t>1 event</a:t>
            </a:r>
            <a:endParaRPr lang="en-US" sz="1200" dirty="0"/>
          </a:p>
        </p:txBody>
      </p:sp>
      <p:sp>
        <p:nvSpPr>
          <p:cNvPr id="23" name="Text 21"/>
          <p:cNvSpPr/>
          <p:nvPr/>
        </p:nvSpPr>
        <p:spPr>
          <a:xfrm>
            <a:off x="6537960" y="260604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Repeated access denials</a:t>
            </a:r>
            <a:endParaRPr lang="en-US" sz="1250" dirty="0"/>
          </a:p>
        </p:txBody>
      </p:sp>
      <p:sp>
        <p:nvSpPr>
          <p:cNvPr id="24" name="Text 22"/>
          <p:cNvSpPr/>
          <p:nvPr/>
        </p:nvSpPr>
        <p:spPr>
          <a:xfrm>
            <a:off x="9875520" y="2606040"/>
            <a:ext cx="1554480" cy="292608"/>
          </a:xfrm>
          <a:prstGeom prst="rect">
            <a:avLst/>
          </a:prstGeom>
          <a:noFill/>
          <a:ln/>
        </p:spPr>
        <p:txBody>
          <a:bodyPr wrap="square" lIns="0" tIns="0" rIns="0" bIns="0" rtlCol="0" anchor="ctr"/>
          <a:lstStyle/>
          <a:p>
            <a:pPr algn="r" indent="0" marL="0">
              <a:buNone/>
            </a:pPr>
            <a:r>
              <a:rPr lang="en-US" sz="1200" b="1" dirty="0">
                <a:solidFill>
                  <a:srgbClr val="065A82"/>
                </a:solidFill>
                <a:latin typeface="Calibri" pitchFamily="34" charset="0"/>
                <a:ea typeface="Calibri" pitchFamily="34" charset="-122"/>
                <a:cs typeface="Calibri" pitchFamily="34" charset="-120"/>
              </a:rPr>
              <a:t>5 in 5 min</a:t>
            </a:r>
            <a:endParaRPr lang="en-US" sz="1200" dirty="0"/>
          </a:p>
        </p:txBody>
      </p:sp>
      <p:sp>
        <p:nvSpPr>
          <p:cNvPr id="25" name="Text 23"/>
          <p:cNvSpPr/>
          <p:nvPr/>
        </p:nvSpPr>
        <p:spPr>
          <a:xfrm>
            <a:off x="6537960" y="297180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Input attack probing</a:t>
            </a:r>
            <a:endParaRPr lang="en-US" sz="1250" dirty="0"/>
          </a:p>
        </p:txBody>
      </p:sp>
      <p:sp>
        <p:nvSpPr>
          <p:cNvPr id="26" name="Text 24"/>
          <p:cNvSpPr/>
          <p:nvPr/>
        </p:nvSpPr>
        <p:spPr>
          <a:xfrm>
            <a:off x="9875520" y="2971800"/>
            <a:ext cx="1554480" cy="292608"/>
          </a:xfrm>
          <a:prstGeom prst="rect">
            <a:avLst/>
          </a:prstGeom>
          <a:noFill/>
          <a:ln/>
        </p:spPr>
        <p:txBody>
          <a:bodyPr wrap="square" lIns="0" tIns="0" rIns="0" bIns="0" rtlCol="0" anchor="ctr"/>
          <a:lstStyle/>
          <a:p>
            <a:pPr algn="r" indent="0" marL="0">
              <a:buNone/>
            </a:pPr>
            <a:r>
              <a:rPr lang="en-US" sz="1200" b="1" dirty="0">
                <a:solidFill>
                  <a:srgbClr val="065A82"/>
                </a:solidFill>
                <a:latin typeface="Calibri" pitchFamily="34" charset="0"/>
                <a:ea typeface="Calibri" pitchFamily="34" charset="-122"/>
                <a:cs typeface="Calibri" pitchFamily="34" charset="-120"/>
              </a:rPr>
              <a:t>10 in 5 min</a:t>
            </a:r>
            <a:endParaRPr lang="en-US" sz="1200" dirty="0"/>
          </a:p>
        </p:txBody>
      </p:sp>
      <p:sp>
        <p:nvSpPr>
          <p:cNvPr id="27" name="Text 25"/>
          <p:cNvSpPr/>
          <p:nvPr/>
        </p:nvSpPr>
        <p:spPr>
          <a:xfrm>
            <a:off x="6537960" y="333756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API server errors</a:t>
            </a:r>
            <a:endParaRPr lang="en-US" sz="1250" dirty="0"/>
          </a:p>
        </p:txBody>
      </p:sp>
      <p:sp>
        <p:nvSpPr>
          <p:cNvPr id="28" name="Text 26"/>
          <p:cNvSpPr/>
          <p:nvPr/>
        </p:nvSpPr>
        <p:spPr>
          <a:xfrm>
            <a:off x="9875520" y="3337560"/>
            <a:ext cx="1554480" cy="292608"/>
          </a:xfrm>
          <a:prstGeom prst="rect">
            <a:avLst/>
          </a:prstGeom>
          <a:noFill/>
          <a:ln/>
        </p:spPr>
        <p:txBody>
          <a:bodyPr wrap="square" lIns="0" tIns="0" rIns="0" bIns="0" rtlCol="0" anchor="ctr"/>
          <a:lstStyle/>
          <a:p>
            <a:pPr algn="r" indent="0" marL="0">
              <a:buNone/>
            </a:pPr>
            <a:r>
              <a:rPr lang="en-US" sz="1200" b="1" dirty="0">
                <a:solidFill>
                  <a:srgbClr val="5B6B7A"/>
                </a:solidFill>
                <a:latin typeface="Calibri" pitchFamily="34" charset="0"/>
                <a:ea typeface="Calibri" pitchFamily="34" charset="-122"/>
                <a:cs typeface="Calibri" pitchFamily="34" charset="-120"/>
              </a:rPr>
              <a:t>5 in 5 min</a:t>
            </a:r>
            <a:endParaRPr lang="en-US" sz="1200" dirty="0"/>
          </a:p>
        </p:txBody>
      </p:sp>
      <p:sp>
        <p:nvSpPr>
          <p:cNvPr id="29" name="Text 27"/>
          <p:cNvSpPr/>
          <p:nvPr/>
        </p:nvSpPr>
        <p:spPr>
          <a:xfrm>
            <a:off x="6537960" y="370332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Gateway throttling</a:t>
            </a:r>
            <a:endParaRPr lang="en-US" sz="1250" dirty="0"/>
          </a:p>
        </p:txBody>
      </p:sp>
      <p:sp>
        <p:nvSpPr>
          <p:cNvPr id="30" name="Text 28"/>
          <p:cNvSpPr/>
          <p:nvPr/>
        </p:nvSpPr>
        <p:spPr>
          <a:xfrm>
            <a:off x="9875520" y="3703320"/>
            <a:ext cx="1554480" cy="292608"/>
          </a:xfrm>
          <a:prstGeom prst="rect">
            <a:avLst/>
          </a:prstGeom>
          <a:noFill/>
          <a:ln/>
        </p:spPr>
        <p:txBody>
          <a:bodyPr wrap="square" lIns="0" tIns="0" rIns="0" bIns="0" rtlCol="0" anchor="ctr"/>
          <a:lstStyle/>
          <a:p>
            <a:pPr algn="r" indent="0" marL="0">
              <a:buNone/>
            </a:pPr>
            <a:r>
              <a:rPr lang="en-US" sz="1200" b="1" dirty="0">
                <a:solidFill>
                  <a:srgbClr val="5B6B7A"/>
                </a:solidFill>
                <a:latin typeface="Calibri" pitchFamily="34" charset="0"/>
                <a:ea typeface="Calibri" pitchFamily="34" charset="-122"/>
                <a:cs typeface="Calibri" pitchFamily="34" charset="-120"/>
              </a:rPr>
              <a:t>20 in 10 min</a:t>
            </a:r>
            <a:endParaRPr lang="en-US" sz="1200" dirty="0"/>
          </a:p>
        </p:txBody>
      </p:sp>
      <p:sp>
        <p:nvSpPr>
          <p:cNvPr id="31" name="Text 29"/>
          <p:cNvSpPr/>
          <p:nvPr/>
        </p:nvSpPr>
        <p:spPr>
          <a:xfrm>
            <a:off x="6537960" y="4069080"/>
            <a:ext cx="3291840" cy="292608"/>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Function errors</a:t>
            </a:r>
            <a:endParaRPr lang="en-US" sz="1250" dirty="0"/>
          </a:p>
        </p:txBody>
      </p:sp>
      <p:sp>
        <p:nvSpPr>
          <p:cNvPr id="32" name="Text 30"/>
          <p:cNvSpPr/>
          <p:nvPr/>
        </p:nvSpPr>
        <p:spPr>
          <a:xfrm>
            <a:off x="9875520" y="4069080"/>
            <a:ext cx="1554480" cy="292608"/>
          </a:xfrm>
          <a:prstGeom prst="rect">
            <a:avLst/>
          </a:prstGeom>
          <a:noFill/>
          <a:ln/>
        </p:spPr>
        <p:txBody>
          <a:bodyPr wrap="square" lIns="0" tIns="0" rIns="0" bIns="0" rtlCol="0" anchor="ctr"/>
          <a:lstStyle/>
          <a:p>
            <a:pPr algn="r" indent="0" marL="0">
              <a:buNone/>
            </a:pPr>
            <a:r>
              <a:rPr lang="en-US" sz="1200" b="1" dirty="0">
                <a:solidFill>
                  <a:srgbClr val="5B6B7A"/>
                </a:solidFill>
                <a:latin typeface="Calibri" pitchFamily="34" charset="0"/>
                <a:ea typeface="Calibri" pitchFamily="34" charset="-122"/>
                <a:cs typeface="Calibri" pitchFamily="34" charset="-120"/>
              </a:rPr>
              <a:t>3 in 5 min</a:t>
            </a:r>
            <a:endParaRPr lang="en-US" sz="1200" dirty="0"/>
          </a:p>
        </p:txBody>
      </p:sp>
      <p:pic>
        <p:nvPicPr>
          <p:cNvPr id="33" name="Image 0" descr="/home/claude/figs/fig-11-cloudwatch-dashboard.png">    </p:cNvPr>
          <p:cNvPicPr>
            <a:picLocks noChangeAspect="1"/>
          </p:cNvPicPr>
          <p:nvPr/>
        </p:nvPicPr>
        <p:blipFill>
          <a:blip r:embed="rId1"/>
          <a:stretch>
            <a:fillRect/>
          </a:stretch>
        </p:blipFill>
        <p:spPr>
          <a:xfrm>
            <a:off x="548640" y="4828032"/>
            <a:ext cx="11064240" cy="1371600"/>
          </a:xfrm>
          <a:prstGeom prst="rect">
            <a:avLst/>
          </a:prstGeom>
        </p:spPr>
      </p:pic>
      <p:sp>
        <p:nvSpPr>
          <p:cNvPr id="34" name="Text 31"/>
          <p:cNvSpPr/>
          <p:nvPr/>
        </p:nvSpPr>
        <p:spPr>
          <a:xfrm>
            <a:off x="548640" y="6291072"/>
            <a:ext cx="11064240" cy="320040"/>
          </a:xfrm>
          <a:prstGeom prst="rect">
            <a:avLst/>
          </a:prstGeom>
          <a:noFill/>
          <a:ln/>
        </p:spPr>
        <p:txBody>
          <a:bodyPr wrap="square" lIns="0" tIns="0" rIns="0" bIns="0" rtlCol="0" anchor="ctr"/>
          <a:lstStyle/>
          <a:p>
            <a:pPr algn="ctr" indent="0" marL="0">
              <a:buNone/>
            </a:pPr>
            <a:r>
              <a:rPr lang="en-US" sz="1300" i="1" dirty="0">
                <a:solidFill>
                  <a:srgbClr val="1B2430"/>
                </a:solidFill>
                <a:latin typeface="Cambria" pitchFamily="34" charset="0"/>
                <a:ea typeface="Cambria" pitchFamily="34" charset="-122"/>
                <a:cs typeface="Cambria" pitchFamily="34" charset="-120"/>
              </a:rPr>
              <a:t>Tampering alarms on a single event. Denials and rejections happen in normal use — they only matter in volume.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CHALLENGES</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What went wrong, and what it taught us</a:t>
            </a:r>
            <a:endParaRPr lang="en-US" sz="3000" dirty="0"/>
          </a:p>
        </p:txBody>
      </p:sp>
      <p:sp>
        <p:nvSpPr>
          <p:cNvPr id="4" name="Shape 2"/>
          <p:cNvSpPr/>
          <p:nvPr/>
        </p:nvSpPr>
        <p:spPr>
          <a:xfrm>
            <a:off x="548640" y="1600200"/>
            <a:ext cx="5394960" cy="1828800"/>
          </a:xfrm>
          <a:prstGeom prst="roundRect">
            <a:avLst>
              <a:gd name="adj" fmla="val 4000"/>
            </a:avLst>
          </a:prstGeom>
          <a:solidFill>
            <a:srgbClr val="EEF4F8"/>
          </a:solidFill>
          <a:ln w="12700">
            <a:solidFill>
              <a:srgbClr val="DCE7EF"/>
            </a:solidFill>
            <a:prstDash val="solid"/>
          </a:ln>
        </p:spPr>
      </p:sp>
      <p:sp>
        <p:nvSpPr>
          <p:cNvPr id="5" name="Shape 3"/>
          <p:cNvSpPr/>
          <p:nvPr/>
        </p:nvSpPr>
        <p:spPr>
          <a:xfrm>
            <a:off x="822960" y="1856232"/>
            <a:ext cx="365760" cy="365760"/>
          </a:xfrm>
          <a:prstGeom prst="ellipse">
            <a:avLst/>
          </a:prstGeom>
          <a:solidFill>
            <a:srgbClr val="065A82"/>
          </a:solidFill>
          <a:ln/>
        </p:spPr>
      </p:sp>
      <p:sp>
        <p:nvSpPr>
          <p:cNvPr id="6" name="Text 4"/>
          <p:cNvSpPr/>
          <p:nvPr/>
        </p:nvSpPr>
        <p:spPr>
          <a:xfrm>
            <a:off x="822960" y="1856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325880" y="1819656"/>
            <a:ext cx="4434840" cy="457200"/>
          </a:xfrm>
          <a:prstGeom prst="rect">
            <a:avLst/>
          </a:prstGeom>
          <a:noFill/>
          <a:ln/>
        </p:spPr>
        <p:txBody>
          <a:bodyPr wrap="square" lIns="0" tIns="0" rIns="0" bIns="0" rtlCol="0" anchor="ctr"/>
          <a:lstStyle/>
          <a:p>
            <a:pPr indent="0" marL="0">
              <a:lnSpc>
                <a:spcPts val="1600"/>
              </a:lnSpc>
              <a:buNone/>
            </a:pPr>
            <a:r>
              <a:rPr lang="en-US" sz="1350" b="1" dirty="0">
                <a:solidFill>
                  <a:srgbClr val="1B2430"/>
                </a:solidFill>
                <a:latin typeface="Calibri" pitchFamily="34" charset="0"/>
                <a:ea typeface="Calibri" pitchFamily="34" charset="-122"/>
                <a:cs typeface="Calibri" pitchFamily="34" charset="-120"/>
              </a:rPr>
              <a:t>Least privilege blocked our own code</a:t>
            </a:r>
            <a:endParaRPr lang="en-US" sz="1350" dirty="0"/>
          </a:p>
        </p:txBody>
      </p:sp>
      <p:sp>
        <p:nvSpPr>
          <p:cNvPr id="8" name="Text 6"/>
          <p:cNvSpPr/>
          <p:nvPr/>
        </p:nvSpPr>
        <p:spPr>
          <a:xfrm>
            <a:off x="1325880" y="2313432"/>
            <a:ext cx="4434840" cy="96012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The first authenticated request failed with 502. The Lambda role could write to the audit table but not use the KMS key protecting it. Data permissions and key permissions are separate grants.</a:t>
            </a:r>
            <a:endParaRPr lang="en-US" sz="1150" dirty="0"/>
          </a:p>
        </p:txBody>
      </p:sp>
      <p:sp>
        <p:nvSpPr>
          <p:cNvPr id="9" name="Shape 7"/>
          <p:cNvSpPr/>
          <p:nvPr/>
        </p:nvSpPr>
        <p:spPr>
          <a:xfrm>
            <a:off x="6217920" y="1600200"/>
            <a:ext cx="5394960" cy="1828800"/>
          </a:xfrm>
          <a:prstGeom prst="roundRect">
            <a:avLst>
              <a:gd name="adj" fmla="val 4000"/>
            </a:avLst>
          </a:prstGeom>
          <a:solidFill>
            <a:srgbClr val="EEF4F8"/>
          </a:solidFill>
          <a:ln w="12700">
            <a:solidFill>
              <a:srgbClr val="DCE7EF"/>
            </a:solidFill>
            <a:prstDash val="solid"/>
          </a:ln>
        </p:spPr>
      </p:sp>
      <p:sp>
        <p:nvSpPr>
          <p:cNvPr id="10" name="Shape 8"/>
          <p:cNvSpPr/>
          <p:nvPr/>
        </p:nvSpPr>
        <p:spPr>
          <a:xfrm>
            <a:off x="6492240" y="1856232"/>
            <a:ext cx="365760" cy="365760"/>
          </a:xfrm>
          <a:prstGeom prst="ellipse">
            <a:avLst/>
          </a:prstGeom>
          <a:solidFill>
            <a:srgbClr val="1C7293"/>
          </a:solidFill>
          <a:ln/>
        </p:spPr>
      </p:sp>
      <p:sp>
        <p:nvSpPr>
          <p:cNvPr id="11" name="Text 9"/>
          <p:cNvSpPr/>
          <p:nvPr/>
        </p:nvSpPr>
        <p:spPr>
          <a:xfrm>
            <a:off x="6492240" y="1856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6995160" y="1819656"/>
            <a:ext cx="4434840" cy="457200"/>
          </a:xfrm>
          <a:prstGeom prst="rect">
            <a:avLst/>
          </a:prstGeom>
          <a:noFill/>
          <a:ln/>
        </p:spPr>
        <p:txBody>
          <a:bodyPr wrap="square" lIns="0" tIns="0" rIns="0" bIns="0" rtlCol="0" anchor="ctr"/>
          <a:lstStyle/>
          <a:p>
            <a:pPr indent="0" marL="0">
              <a:lnSpc>
                <a:spcPts val="1600"/>
              </a:lnSpc>
              <a:buNone/>
            </a:pPr>
            <a:r>
              <a:rPr lang="en-US" sz="1350" b="1" dirty="0">
                <a:solidFill>
                  <a:srgbClr val="1B2430"/>
                </a:solidFill>
                <a:latin typeface="Calibri" pitchFamily="34" charset="0"/>
                <a:ea typeface="Calibri" pitchFamily="34" charset="-122"/>
                <a:cs typeface="Calibri" pitchFamily="34" charset="-120"/>
              </a:rPr>
              <a:t>Hidden account-level state</a:t>
            </a:r>
            <a:endParaRPr lang="en-US" sz="1350" dirty="0"/>
          </a:p>
        </p:txBody>
      </p:sp>
      <p:sp>
        <p:nvSpPr>
          <p:cNvPr id="13" name="Text 11"/>
          <p:cNvSpPr/>
          <p:nvPr/>
        </p:nvSpPr>
        <p:spPr>
          <a:xfrm>
            <a:off x="6995160" y="2313432"/>
            <a:ext cx="4434840" cy="96012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Deployment failed until an account-wide API Gateway logging role was created — a prerequisite that does not exist in a fresh AWS account. Infrastructure as code covers what it declares, not what it assumes.</a:t>
            </a:r>
            <a:endParaRPr lang="en-US" sz="1150" dirty="0"/>
          </a:p>
        </p:txBody>
      </p:sp>
      <p:sp>
        <p:nvSpPr>
          <p:cNvPr id="14" name="Shape 12"/>
          <p:cNvSpPr/>
          <p:nvPr/>
        </p:nvSpPr>
        <p:spPr>
          <a:xfrm>
            <a:off x="548640" y="3657600"/>
            <a:ext cx="5394960" cy="1828800"/>
          </a:xfrm>
          <a:prstGeom prst="roundRect">
            <a:avLst>
              <a:gd name="adj" fmla="val 4000"/>
            </a:avLst>
          </a:prstGeom>
          <a:solidFill>
            <a:srgbClr val="EEF4F8"/>
          </a:solidFill>
          <a:ln w="12700">
            <a:solidFill>
              <a:srgbClr val="DCE7EF"/>
            </a:solidFill>
            <a:prstDash val="solid"/>
          </a:ln>
        </p:spPr>
      </p:sp>
      <p:sp>
        <p:nvSpPr>
          <p:cNvPr id="15" name="Shape 13"/>
          <p:cNvSpPr/>
          <p:nvPr/>
        </p:nvSpPr>
        <p:spPr>
          <a:xfrm>
            <a:off x="822960" y="3913632"/>
            <a:ext cx="365760" cy="365760"/>
          </a:xfrm>
          <a:prstGeom prst="ellipse">
            <a:avLst/>
          </a:prstGeom>
          <a:solidFill>
            <a:srgbClr val="065A82"/>
          </a:solidFill>
          <a:ln/>
        </p:spPr>
      </p:sp>
      <p:sp>
        <p:nvSpPr>
          <p:cNvPr id="16" name="Text 14"/>
          <p:cNvSpPr/>
          <p:nvPr/>
        </p:nvSpPr>
        <p:spPr>
          <a:xfrm>
            <a:off x="822960" y="39136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325880" y="3877056"/>
            <a:ext cx="4434840" cy="457200"/>
          </a:xfrm>
          <a:prstGeom prst="rect">
            <a:avLst/>
          </a:prstGeom>
          <a:noFill/>
          <a:ln/>
        </p:spPr>
        <p:txBody>
          <a:bodyPr wrap="square" lIns="0" tIns="0" rIns="0" bIns="0" rtlCol="0" anchor="ctr"/>
          <a:lstStyle/>
          <a:p>
            <a:pPr indent="0" marL="0">
              <a:lnSpc>
                <a:spcPts val="1600"/>
              </a:lnSpc>
              <a:buNone/>
            </a:pPr>
            <a:r>
              <a:rPr lang="en-US" sz="1350" b="1" dirty="0">
                <a:solidFill>
                  <a:srgbClr val="1B2430"/>
                </a:solidFill>
                <a:latin typeface="Calibri" pitchFamily="34" charset="0"/>
                <a:ea typeface="Calibri" pitchFamily="34" charset="-122"/>
                <a:cs typeface="Calibri" pitchFamily="34" charset="-120"/>
              </a:rPr>
              <a:t>Configuration drift</a:t>
            </a:r>
            <a:endParaRPr lang="en-US" sz="1350" dirty="0"/>
          </a:p>
        </p:txBody>
      </p:sp>
      <p:sp>
        <p:nvSpPr>
          <p:cNvPr id="18" name="Text 16"/>
          <p:cNvSpPr/>
          <p:nvPr/>
        </p:nvSpPr>
        <p:spPr>
          <a:xfrm>
            <a:off x="1325880" y="4370832"/>
            <a:ext cx="4434840" cy="96012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A CORS fix applied by hand was silently reverted when an archive was unpacked over the working copy. A change that lives only in a working copy will eventually be overwritten.</a:t>
            </a:r>
            <a:endParaRPr lang="en-US" sz="1150" dirty="0"/>
          </a:p>
        </p:txBody>
      </p:sp>
      <p:sp>
        <p:nvSpPr>
          <p:cNvPr id="19" name="Shape 17"/>
          <p:cNvSpPr/>
          <p:nvPr/>
        </p:nvSpPr>
        <p:spPr>
          <a:xfrm>
            <a:off x="6217920" y="3657600"/>
            <a:ext cx="5394960" cy="1828800"/>
          </a:xfrm>
          <a:prstGeom prst="roundRect">
            <a:avLst>
              <a:gd name="adj" fmla="val 4000"/>
            </a:avLst>
          </a:prstGeom>
          <a:solidFill>
            <a:srgbClr val="EEF4F8"/>
          </a:solidFill>
          <a:ln w="12700">
            <a:solidFill>
              <a:srgbClr val="DCE7EF"/>
            </a:solidFill>
            <a:prstDash val="solid"/>
          </a:ln>
        </p:spPr>
      </p:sp>
      <p:sp>
        <p:nvSpPr>
          <p:cNvPr id="20" name="Shape 18"/>
          <p:cNvSpPr/>
          <p:nvPr/>
        </p:nvSpPr>
        <p:spPr>
          <a:xfrm>
            <a:off x="6492240" y="3913632"/>
            <a:ext cx="365760" cy="365760"/>
          </a:xfrm>
          <a:prstGeom prst="ellipse">
            <a:avLst/>
          </a:prstGeom>
          <a:solidFill>
            <a:srgbClr val="1C7293"/>
          </a:solidFill>
          <a:ln/>
        </p:spPr>
      </p:sp>
      <p:sp>
        <p:nvSpPr>
          <p:cNvPr id="21" name="Text 19"/>
          <p:cNvSpPr/>
          <p:nvPr/>
        </p:nvSpPr>
        <p:spPr>
          <a:xfrm>
            <a:off x="6492240" y="39136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6995160" y="3877056"/>
            <a:ext cx="4434840" cy="457200"/>
          </a:xfrm>
          <a:prstGeom prst="rect">
            <a:avLst/>
          </a:prstGeom>
          <a:noFill/>
          <a:ln/>
        </p:spPr>
        <p:txBody>
          <a:bodyPr wrap="square" lIns="0" tIns="0" rIns="0" bIns="0" rtlCol="0" anchor="ctr"/>
          <a:lstStyle/>
          <a:p>
            <a:pPr indent="0" marL="0">
              <a:lnSpc>
                <a:spcPts val="1600"/>
              </a:lnSpc>
              <a:buNone/>
            </a:pPr>
            <a:r>
              <a:rPr lang="en-US" sz="1350" b="1" dirty="0">
                <a:solidFill>
                  <a:srgbClr val="1B2430"/>
                </a:solidFill>
                <a:latin typeface="Calibri" pitchFamily="34" charset="0"/>
                <a:ea typeface="Calibri" pitchFamily="34" charset="-122"/>
                <a:cs typeface="Calibri" pitchFamily="34" charset="-120"/>
              </a:rPr>
              <a:t>Credential shortcuts under deadline</a:t>
            </a:r>
            <a:endParaRPr lang="en-US" sz="1350" dirty="0"/>
          </a:p>
        </p:txBody>
      </p:sp>
      <p:sp>
        <p:nvSpPr>
          <p:cNvPr id="23" name="Text 21"/>
          <p:cNvSpPr/>
          <p:nvPr/>
        </p:nvSpPr>
        <p:spPr>
          <a:xfrm>
            <a:off x="6995160" y="4370832"/>
            <a:ext cx="4434840" cy="960120"/>
          </a:xfrm>
          <a:prstGeom prst="rect">
            <a:avLst/>
          </a:prstGeom>
          <a:noFill/>
          <a:ln/>
        </p:spPr>
        <p:txBody>
          <a:bodyPr wrap="square" lIns="0" tIns="0" rIns="0" bIns="0" rtlCol="0" anchor="ctr"/>
          <a:lstStyle/>
          <a:p>
            <a:pPr indent="0" marL="0">
              <a:lnSpc>
                <a:spcPts val="1500"/>
              </a:lnSpc>
              <a:buNone/>
            </a:pPr>
            <a:r>
              <a:rPr lang="en-US" sz="1150" dirty="0">
                <a:solidFill>
                  <a:srgbClr val="5B6B7A"/>
                </a:solidFill>
                <a:latin typeface="Calibri" pitchFamily="34" charset="0"/>
                <a:ea typeface="Calibri" pitchFamily="34" charset="-122"/>
                <a:cs typeface="Calibri" pitchFamily="34" charset="-120"/>
              </a:rPr>
              <a:t>Early work used root credentials because it was fastest. Moving to a scoped IAM user took five minutes and had been deferred for hours.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LIMITATIONS &amp; FUTURE WORK</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Where the guarantees end</a:t>
            </a:r>
            <a:endParaRPr lang="en-US" sz="3000" dirty="0"/>
          </a:p>
        </p:txBody>
      </p:sp>
      <p:sp>
        <p:nvSpPr>
          <p:cNvPr id="4" name="Shape 2"/>
          <p:cNvSpPr/>
          <p:nvPr/>
        </p:nvSpPr>
        <p:spPr>
          <a:xfrm>
            <a:off x="548640" y="1600200"/>
            <a:ext cx="5394960" cy="3291840"/>
          </a:xfrm>
          <a:prstGeom prst="roundRect">
            <a:avLst>
              <a:gd name="adj" fmla="val 2222"/>
            </a:avLst>
          </a:prstGeom>
          <a:solidFill>
            <a:srgbClr val="EEF4F8"/>
          </a:solidFill>
          <a:ln w="12700">
            <a:solidFill>
              <a:srgbClr val="DCE7EF"/>
            </a:solidFill>
            <a:prstDash val="solid"/>
          </a:ln>
        </p:spPr>
      </p:sp>
      <p:sp>
        <p:nvSpPr>
          <p:cNvPr id="5" name="Text 3"/>
          <p:cNvSpPr/>
          <p:nvPr/>
        </p:nvSpPr>
        <p:spPr>
          <a:xfrm>
            <a:off x="868680" y="1828800"/>
            <a:ext cx="4754880" cy="292608"/>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Known limitations</a:t>
            </a:r>
            <a:endParaRPr lang="en-US" sz="1500" dirty="0"/>
          </a:p>
        </p:txBody>
      </p:sp>
      <p:sp>
        <p:nvSpPr>
          <p:cNvPr id="6" name="Text 4"/>
          <p:cNvSpPr/>
          <p:nvPr/>
        </p:nvSpPr>
        <p:spPr>
          <a:xfrm>
            <a:off x="868680" y="2240280"/>
            <a:ext cx="4754880" cy="246888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Patient search uses a table scan; production would use a secondary index</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CORS is permissive for the demo; production pins the origin</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Audit immutability rests on application design and IAM, not cryptography</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Rate limiting is per method, not per identity</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Frontend CSP allows unsafe-inline in development mode</a:t>
            </a:r>
            <a:endParaRPr lang="en-US" sz="1200" dirty="0"/>
          </a:p>
        </p:txBody>
      </p:sp>
      <p:sp>
        <p:nvSpPr>
          <p:cNvPr id="7" name="Shape 5"/>
          <p:cNvSpPr/>
          <p:nvPr/>
        </p:nvSpPr>
        <p:spPr>
          <a:xfrm>
            <a:off x="6217920" y="1600200"/>
            <a:ext cx="5394960" cy="3291840"/>
          </a:xfrm>
          <a:prstGeom prst="roundRect">
            <a:avLst>
              <a:gd name="adj" fmla="val 2222"/>
            </a:avLst>
          </a:prstGeom>
          <a:solidFill>
            <a:srgbClr val="EEF4F8"/>
          </a:solidFill>
          <a:ln w="12700">
            <a:solidFill>
              <a:srgbClr val="DCE7EF"/>
            </a:solidFill>
            <a:prstDash val="solid"/>
          </a:ln>
        </p:spPr>
      </p:sp>
      <p:sp>
        <p:nvSpPr>
          <p:cNvPr id="8" name="Text 6"/>
          <p:cNvSpPr/>
          <p:nvPr/>
        </p:nvSpPr>
        <p:spPr>
          <a:xfrm>
            <a:off x="6537960" y="1828800"/>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Designed future expansion: IoT</a:t>
            </a:r>
            <a:endParaRPr lang="en-US" sz="1500" dirty="0"/>
          </a:p>
        </p:txBody>
      </p:sp>
      <p:sp>
        <p:nvSpPr>
          <p:cNvPr id="9" name="Text 7"/>
          <p:cNvSpPr/>
          <p:nvPr/>
        </p:nvSpPr>
        <p:spPr>
          <a:xfrm>
            <a:off x="6537960" y="2240280"/>
            <a:ext cx="4754880" cy="9144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Connected equipment monitoring — an ESP32 with a temperature sensor watching a vaccine refrigerator — designed but deliberately not built, so effort stayed on the assessed controls.</a:t>
            </a:r>
            <a:endParaRPr lang="en-US" sz="1200" dirty="0"/>
          </a:p>
        </p:txBody>
      </p:sp>
      <p:sp>
        <p:nvSpPr>
          <p:cNvPr id="10" name="Text 8"/>
          <p:cNvSpPr/>
          <p:nvPr/>
        </p:nvSpPr>
        <p:spPr>
          <a:xfrm>
            <a:off x="6537960" y="3246120"/>
            <a:ext cx="4754880" cy="146304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Adds a fourth trust zone: a physical device can be stolen and cloned</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Per-device X.509 certificates with mutual TLS to AWS IoT Core</a:t>
            </a:r>
            <a:endParaRPr lang="en-US" sz="1200" dirty="0"/>
          </a:p>
          <a:p>
            <a:pPr marL="342900" indent="-342900">
              <a:lnSpc>
                <a:spcPts val="1600"/>
              </a:lnSpc>
              <a:spcAft>
                <a:spcPts val="800"/>
              </a:spcAft>
              <a:buSzPct val="100000"/>
              <a:buChar char="•"/>
            </a:pPr>
            <a:r>
              <a:rPr lang="en-US" sz="1200" dirty="0">
                <a:solidFill>
                  <a:srgbClr val="1B2430"/>
                </a:solidFill>
                <a:latin typeface="Calibri" pitchFamily="34" charset="0"/>
                <a:ea typeface="Calibri" pitchFamily="34" charset="-122"/>
                <a:cs typeface="Calibri" pitchFamily="34" charset="-120"/>
              </a:rPr>
              <a:t>New STRIDE threats: device spoofing and telemetry tampering</a:t>
            </a:r>
            <a:endParaRPr lang="en-US" sz="1200" dirty="0"/>
          </a:p>
        </p:txBody>
      </p:sp>
      <p:sp>
        <p:nvSpPr>
          <p:cNvPr id="11" name="Text 9"/>
          <p:cNvSpPr/>
          <p:nvPr/>
        </p:nvSpPr>
        <p:spPr>
          <a:xfrm>
            <a:off x="548640" y="5120640"/>
            <a:ext cx="11064240" cy="365760"/>
          </a:xfrm>
          <a:prstGeom prst="rect">
            <a:avLst/>
          </a:prstGeom>
          <a:noFill/>
          <a:ln/>
        </p:spPr>
        <p:txBody>
          <a:bodyPr wrap="square" lIns="0" tIns="0" rIns="0" bIns="0" rtlCol="0" anchor="ctr"/>
          <a:lstStyle/>
          <a:p>
            <a:pPr algn="ctr" indent="0" marL="0">
              <a:buNone/>
            </a:pPr>
            <a:r>
              <a:rPr lang="en-US" sz="1500" i="1" dirty="0">
                <a:solidFill>
                  <a:srgbClr val="065A82"/>
                </a:solidFill>
                <a:latin typeface="Cambria" pitchFamily="34" charset="0"/>
                <a:ea typeface="Cambria" pitchFamily="34" charset="-122"/>
                <a:cs typeface="Cambria" pitchFamily="34" charset="-120"/>
              </a:rPr>
              <a:t>Knowing exactly where a system's guarantees end is itself a security property.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966960" y="-1097280"/>
            <a:ext cx="4389120" cy="4389120"/>
          </a:xfrm>
          <a:prstGeom prst="ellipse">
            <a:avLst/>
          </a:prstGeom>
          <a:solidFill>
            <a:srgbClr val="065A82">
              <a:alpha val="40000"/>
            </a:srgbClr>
          </a:solidFill>
          <a:ln/>
        </p:spPr>
      </p:sp>
      <p:sp>
        <p:nvSpPr>
          <p:cNvPr id="3" name="Text 1"/>
          <p:cNvSpPr/>
          <p:nvPr/>
        </p:nvSpPr>
        <p:spPr>
          <a:xfrm>
            <a:off x="822960" y="1051560"/>
            <a:ext cx="10058400" cy="365760"/>
          </a:xfrm>
          <a:prstGeom prst="rect">
            <a:avLst/>
          </a:prstGeom>
          <a:noFill/>
          <a:ln/>
        </p:spPr>
        <p:txBody>
          <a:bodyPr wrap="square" lIns="0" tIns="0" rIns="0" bIns="0" rtlCol="0" anchor="ctr"/>
          <a:lstStyle/>
          <a:p>
            <a:pPr indent="0" marL="0">
              <a:buNone/>
            </a:pPr>
            <a:r>
              <a:rPr lang="en-US" sz="1300" b="1" spc="200" kern="0" dirty="0">
                <a:solidFill>
                  <a:srgbClr val="6FA8C8"/>
                </a:solidFill>
                <a:latin typeface="Calibri" pitchFamily="34" charset="0"/>
                <a:ea typeface="Calibri" pitchFamily="34" charset="-122"/>
                <a:cs typeface="Calibri" pitchFamily="34" charset="-120"/>
              </a:rPr>
              <a:t>What we set out to prove</a:t>
            </a:r>
            <a:endParaRPr lang="en-US" sz="1300" dirty="0"/>
          </a:p>
        </p:txBody>
      </p:sp>
      <p:sp>
        <p:nvSpPr>
          <p:cNvPr id="4" name="Text 2"/>
          <p:cNvSpPr/>
          <p:nvPr/>
        </p:nvSpPr>
        <p:spPr>
          <a:xfrm>
            <a:off x="822960" y="1481328"/>
            <a:ext cx="9601200" cy="68580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controls are real, not decorative</a:t>
            </a:r>
            <a:endParaRPr lang="en-US" sz="3600" dirty="0"/>
          </a:p>
        </p:txBody>
      </p:sp>
      <p:sp>
        <p:nvSpPr>
          <p:cNvPr id="5" name="Shape 3"/>
          <p:cNvSpPr/>
          <p:nvPr/>
        </p:nvSpPr>
        <p:spPr>
          <a:xfrm>
            <a:off x="868680" y="2569464"/>
            <a:ext cx="310896" cy="310896"/>
          </a:xfrm>
          <a:prstGeom prst="ellipse">
            <a:avLst/>
          </a:prstGeom>
          <a:solidFill>
            <a:srgbClr val="1C7293"/>
          </a:solidFill>
          <a:ln/>
        </p:spPr>
      </p:sp>
      <p:sp>
        <p:nvSpPr>
          <p:cNvPr id="6" name="Text 4"/>
          <p:cNvSpPr/>
          <p:nvPr/>
        </p:nvSpPr>
        <p:spPr>
          <a:xfrm>
            <a:off x="1389888" y="2514600"/>
            <a:ext cx="969264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Least-privilege IAM refused our own code until it was properly authorised</a:t>
            </a:r>
            <a:endParaRPr lang="en-US" sz="1450" dirty="0"/>
          </a:p>
        </p:txBody>
      </p:sp>
      <p:sp>
        <p:nvSpPr>
          <p:cNvPr id="7" name="Text 5"/>
          <p:cNvSpPr/>
          <p:nvPr/>
        </p:nvSpPr>
        <p:spPr>
          <a:xfrm>
            <a:off x="1389888" y="2916936"/>
            <a:ext cx="9692640" cy="292608"/>
          </a:xfrm>
          <a:prstGeom prst="rect">
            <a:avLst/>
          </a:prstGeom>
          <a:noFill/>
          <a:ln/>
        </p:spPr>
        <p:txBody>
          <a:bodyPr wrap="square" lIns="0" tIns="0" rIns="0" bIns="0" rtlCol="0" anchor="ctr"/>
          <a:lstStyle/>
          <a:p>
            <a:pPr indent="0" marL="0">
              <a:buNone/>
            </a:pPr>
            <a:r>
              <a:rPr lang="en-US" sz="1200" i="1" dirty="0">
                <a:solidFill>
                  <a:srgbClr val="9FB3C6"/>
                </a:solidFill>
                <a:latin typeface="Calibri" pitchFamily="34" charset="0"/>
                <a:ea typeface="Calibri" pitchFamily="34" charset="-122"/>
                <a:cs typeface="Calibri" pitchFamily="34" charset="-120"/>
              </a:rPr>
              <a:t>Encryption enforcing itself is stronger evidence than a passing test</a:t>
            </a:r>
            <a:endParaRPr lang="en-US" sz="1200" dirty="0"/>
          </a:p>
        </p:txBody>
      </p:sp>
      <p:sp>
        <p:nvSpPr>
          <p:cNvPr id="8" name="Shape 6"/>
          <p:cNvSpPr/>
          <p:nvPr/>
        </p:nvSpPr>
        <p:spPr>
          <a:xfrm>
            <a:off x="868680" y="3529584"/>
            <a:ext cx="310896" cy="310896"/>
          </a:xfrm>
          <a:prstGeom prst="ellipse">
            <a:avLst/>
          </a:prstGeom>
          <a:solidFill>
            <a:srgbClr val="1C7293"/>
          </a:solidFill>
          <a:ln/>
        </p:spPr>
      </p:sp>
      <p:sp>
        <p:nvSpPr>
          <p:cNvPr id="9" name="Text 7"/>
          <p:cNvSpPr/>
          <p:nvPr/>
        </p:nvSpPr>
        <p:spPr>
          <a:xfrm>
            <a:off x="1389888" y="3474720"/>
            <a:ext cx="969264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The integrity check withheld a record altered in the database, then served it again once restored</a:t>
            </a:r>
            <a:endParaRPr lang="en-US" sz="1450" dirty="0"/>
          </a:p>
        </p:txBody>
      </p:sp>
      <p:sp>
        <p:nvSpPr>
          <p:cNvPr id="10" name="Text 8"/>
          <p:cNvSpPr/>
          <p:nvPr/>
        </p:nvSpPr>
        <p:spPr>
          <a:xfrm>
            <a:off x="1389888" y="3877056"/>
            <a:ext cx="9692640" cy="292608"/>
          </a:xfrm>
          <a:prstGeom prst="rect">
            <a:avLst/>
          </a:prstGeom>
          <a:noFill/>
          <a:ln/>
        </p:spPr>
        <p:txBody>
          <a:bodyPr wrap="square" lIns="0" tIns="0" rIns="0" bIns="0" rtlCol="0" anchor="ctr"/>
          <a:lstStyle/>
          <a:p>
            <a:pPr indent="0" marL="0">
              <a:buNone/>
            </a:pPr>
            <a:r>
              <a:rPr lang="en-US" sz="1200" i="1" dirty="0">
                <a:solidFill>
                  <a:srgbClr val="9FB3C6"/>
                </a:solidFill>
                <a:latin typeface="Calibri" pitchFamily="34" charset="0"/>
                <a:ea typeface="Calibri" pitchFamily="34" charset="-122"/>
                <a:cs typeface="Calibri" pitchFamily="34" charset="-120"/>
              </a:rPr>
              <a:t>Deterministic verification, not a one-way failure state</a:t>
            </a:r>
            <a:endParaRPr lang="en-US" sz="1200" dirty="0"/>
          </a:p>
        </p:txBody>
      </p:sp>
      <p:sp>
        <p:nvSpPr>
          <p:cNvPr id="11" name="Shape 9"/>
          <p:cNvSpPr/>
          <p:nvPr/>
        </p:nvSpPr>
        <p:spPr>
          <a:xfrm>
            <a:off x="868680" y="4489704"/>
            <a:ext cx="310896" cy="310896"/>
          </a:xfrm>
          <a:prstGeom prst="ellipse">
            <a:avLst/>
          </a:prstGeom>
          <a:solidFill>
            <a:srgbClr val="1C7293"/>
          </a:solidFill>
          <a:ln/>
        </p:spPr>
      </p:sp>
      <p:sp>
        <p:nvSpPr>
          <p:cNvPr id="12" name="Text 10"/>
          <p:cNvSpPr/>
          <p:nvPr/>
        </p:nvSpPr>
        <p:spPr>
          <a:xfrm>
            <a:off x="1389888" y="4434840"/>
            <a:ext cx="9692640" cy="384048"/>
          </a:xfrm>
          <a:prstGeom prst="rect">
            <a:avLst/>
          </a:prstGeom>
          <a:noFill/>
          <a:ln/>
        </p:spPr>
        <p:txBody>
          <a:bodyPr wrap="square" lIns="0" tIns="0" rIns="0" bIns="0" rtlCol="0" anchor="ctr"/>
          <a:lstStyle/>
          <a:p>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Automated tests found a defect that manual checking had missed</a:t>
            </a:r>
            <a:endParaRPr lang="en-US" sz="1450" dirty="0"/>
          </a:p>
        </p:txBody>
      </p:sp>
      <p:sp>
        <p:nvSpPr>
          <p:cNvPr id="13" name="Text 11"/>
          <p:cNvSpPr/>
          <p:nvPr/>
        </p:nvSpPr>
        <p:spPr>
          <a:xfrm>
            <a:off x="1389888" y="4837176"/>
            <a:ext cx="9692640" cy="292608"/>
          </a:xfrm>
          <a:prstGeom prst="rect">
            <a:avLst/>
          </a:prstGeom>
          <a:noFill/>
          <a:ln/>
        </p:spPr>
        <p:txBody>
          <a:bodyPr wrap="square" lIns="0" tIns="0" rIns="0" bIns="0" rtlCol="0" anchor="ctr"/>
          <a:lstStyle/>
          <a:p>
            <a:pPr indent="0" marL="0">
              <a:buNone/>
            </a:pPr>
            <a:r>
              <a:rPr lang="en-US" sz="1200" i="1" dirty="0">
                <a:solidFill>
                  <a:srgbClr val="9FB3C6"/>
                </a:solidFill>
                <a:latin typeface="Calibri" pitchFamily="34" charset="0"/>
                <a:ea typeface="Calibri" pitchFamily="34" charset="-122"/>
                <a:cs typeface="Calibri" pitchFamily="34" charset="-120"/>
              </a:rPr>
              <a:t>Which is exactly why they were written</a:t>
            </a:r>
            <a:endParaRPr lang="en-US" sz="1200" dirty="0"/>
          </a:p>
        </p:txBody>
      </p:sp>
      <p:sp>
        <p:nvSpPr>
          <p:cNvPr id="14" name="Text 12"/>
          <p:cNvSpPr/>
          <p:nvPr/>
        </p:nvSpPr>
        <p:spPr>
          <a:xfrm>
            <a:off x="822960" y="5623560"/>
            <a:ext cx="10515600" cy="365760"/>
          </a:xfrm>
          <a:prstGeom prst="rect">
            <a:avLst/>
          </a:prstGeom>
          <a:noFill/>
          <a:ln/>
        </p:spPr>
        <p:txBody>
          <a:bodyPr wrap="square" lIns="0" tIns="0" rIns="0" bIns="0" rtlCol="0" anchor="ctr"/>
          <a:lstStyle/>
          <a:p>
            <a:pPr indent="0" marL="0">
              <a:buNone/>
            </a:pPr>
            <a:r>
              <a:rPr lang="en-US" sz="1300" dirty="0">
                <a:solidFill>
                  <a:srgbClr val="C9D6E2"/>
                </a:solidFill>
                <a:latin typeface="Calibri" pitchFamily="34" charset="0"/>
                <a:ea typeface="Calibri" pitchFamily="34" charset="-122"/>
                <a:cs typeface="Calibri" pitchFamily="34" charset="-120"/>
              </a:rPr>
              <a:t>Six controls · 15 threats modelled · 145 tests passing · deployed and running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56032"/>
          </a:xfrm>
          <a:prstGeom prst="rect">
            <a:avLst/>
          </a:prstGeom>
          <a:noFill/>
          <a:ln/>
        </p:spPr>
        <p:txBody>
          <a:bodyPr wrap="square" lIns="0" tIns="0" rIns="0" bIns="0" rtlCol="0" anchor="ctr"/>
          <a:lstStyle/>
          <a:p>
            <a:pPr indent="0" marL="0">
              <a:buNone/>
            </a:pPr>
            <a:r>
              <a:rPr lang="en-US" sz="1100" b="1" spc="200" kern="0" dirty="0">
                <a:solidFill>
                  <a:srgbClr val="1C7293"/>
                </a:solidFill>
                <a:latin typeface="Calibri" pitchFamily="34" charset="0"/>
                <a:ea typeface="Calibri" pitchFamily="34" charset="-122"/>
                <a:cs typeface="Calibri" pitchFamily="34" charset="-120"/>
              </a:rPr>
              <a:t>THANK YOU</a:t>
            </a:r>
            <a:endParaRPr lang="en-US" sz="1100" dirty="0"/>
          </a:p>
        </p:txBody>
      </p:sp>
      <p:sp>
        <p:nvSpPr>
          <p:cNvPr id="3" name="Text 1"/>
          <p:cNvSpPr/>
          <p:nvPr/>
        </p:nvSpPr>
        <p:spPr>
          <a:xfrm>
            <a:off x="548640" y="658368"/>
            <a:ext cx="11064240" cy="640080"/>
          </a:xfrm>
          <a:prstGeom prst="rect">
            <a:avLst/>
          </a:prstGeom>
          <a:noFill/>
          <a:ln/>
        </p:spPr>
        <p:txBody>
          <a:bodyPr wrap="square" lIns="0" tIns="0" rIns="0" bIns="0"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Questions</a:t>
            </a:r>
            <a:endParaRPr lang="en-US" sz="3000" dirty="0"/>
          </a:p>
        </p:txBody>
      </p:sp>
      <p:sp>
        <p:nvSpPr>
          <p:cNvPr id="4" name="Shape 2"/>
          <p:cNvSpPr/>
          <p:nvPr/>
        </p:nvSpPr>
        <p:spPr>
          <a:xfrm>
            <a:off x="548640" y="1691640"/>
            <a:ext cx="5394960" cy="3200400"/>
          </a:xfrm>
          <a:prstGeom prst="roundRect">
            <a:avLst>
              <a:gd name="adj" fmla="val 2286"/>
            </a:avLst>
          </a:prstGeom>
          <a:solidFill>
            <a:srgbClr val="EEF4F8"/>
          </a:solidFill>
          <a:ln w="12700">
            <a:solidFill>
              <a:srgbClr val="DCE7EF"/>
            </a:solidFill>
            <a:prstDash val="solid"/>
          </a:ln>
        </p:spPr>
      </p:sp>
      <p:sp>
        <p:nvSpPr>
          <p:cNvPr id="5" name="Text 3"/>
          <p:cNvSpPr/>
          <p:nvPr/>
        </p:nvSpPr>
        <p:spPr>
          <a:xfrm>
            <a:off x="868680" y="1920240"/>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Team contributions</a:t>
            </a:r>
            <a:endParaRPr lang="en-US" sz="1500" dirty="0"/>
          </a:p>
        </p:txBody>
      </p:sp>
      <p:sp>
        <p:nvSpPr>
          <p:cNvPr id="6" name="Shape 4"/>
          <p:cNvSpPr/>
          <p:nvPr/>
        </p:nvSpPr>
        <p:spPr>
          <a:xfrm>
            <a:off x="868680" y="2450592"/>
            <a:ext cx="237744" cy="237744"/>
          </a:xfrm>
          <a:prstGeom prst="ellipse">
            <a:avLst/>
          </a:prstGeom>
          <a:solidFill>
            <a:srgbClr val="065A82"/>
          </a:solidFill>
          <a:ln/>
        </p:spPr>
      </p:sp>
      <p:sp>
        <p:nvSpPr>
          <p:cNvPr id="7" name="Text 5"/>
          <p:cNvSpPr/>
          <p:nvPr/>
        </p:nvSpPr>
        <p:spPr>
          <a:xfrm>
            <a:off x="1234440" y="2377440"/>
            <a:ext cx="438912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Malav Mehta</a:t>
            </a:r>
            <a:endParaRPr lang="en-US" sz="1300" dirty="0"/>
          </a:p>
        </p:txBody>
      </p:sp>
      <p:sp>
        <p:nvSpPr>
          <p:cNvPr id="8" name="Text 6"/>
          <p:cNvSpPr/>
          <p:nvPr/>
        </p:nvSpPr>
        <p:spPr>
          <a:xfrm>
            <a:off x="1234440" y="2633472"/>
            <a:ext cx="438912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Architecture, backend security, threat model</a:t>
            </a:r>
            <a:endParaRPr lang="en-US" sz="1150" dirty="0"/>
          </a:p>
        </p:txBody>
      </p:sp>
      <p:sp>
        <p:nvSpPr>
          <p:cNvPr id="9" name="Shape 7"/>
          <p:cNvSpPr/>
          <p:nvPr/>
        </p:nvSpPr>
        <p:spPr>
          <a:xfrm>
            <a:off x="868680" y="3054096"/>
            <a:ext cx="237744" cy="237744"/>
          </a:xfrm>
          <a:prstGeom prst="ellipse">
            <a:avLst/>
          </a:prstGeom>
          <a:solidFill>
            <a:srgbClr val="1C7293"/>
          </a:solidFill>
          <a:ln/>
        </p:spPr>
      </p:sp>
      <p:sp>
        <p:nvSpPr>
          <p:cNvPr id="10" name="Text 8"/>
          <p:cNvSpPr/>
          <p:nvPr/>
        </p:nvSpPr>
        <p:spPr>
          <a:xfrm>
            <a:off x="1234440" y="2980944"/>
            <a:ext cx="438912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Robert Ruiz Villalta</a:t>
            </a:r>
            <a:endParaRPr lang="en-US" sz="1300" dirty="0"/>
          </a:p>
        </p:txBody>
      </p:sp>
      <p:sp>
        <p:nvSpPr>
          <p:cNvPr id="11" name="Text 9"/>
          <p:cNvSpPr/>
          <p:nvPr/>
        </p:nvSpPr>
        <p:spPr>
          <a:xfrm>
            <a:off x="1234440" y="3236976"/>
            <a:ext cx="438912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Frontend, authentication flow, diagrams</a:t>
            </a:r>
            <a:endParaRPr lang="en-US" sz="1150" dirty="0"/>
          </a:p>
        </p:txBody>
      </p:sp>
      <p:sp>
        <p:nvSpPr>
          <p:cNvPr id="12" name="Shape 10"/>
          <p:cNvSpPr/>
          <p:nvPr/>
        </p:nvSpPr>
        <p:spPr>
          <a:xfrm>
            <a:off x="868680" y="3657600"/>
            <a:ext cx="237744" cy="237744"/>
          </a:xfrm>
          <a:prstGeom prst="ellipse">
            <a:avLst/>
          </a:prstGeom>
          <a:solidFill>
            <a:srgbClr val="065A82"/>
          </a:solidFill>
          <a:ln/>
        </p:spPr>
      </p:sp>
      <p:sp>
        <p:nvSpPr>
          <p:cNvPr id="13" name="Text 11"/>
          <p:cNvSpPr/>
          <p:nvPr/>
        </p:nvSpPr>
        <p:spPr>
          <a:xfrm>
            <a:off x="1234440" y="3584448"/>
            <a:ext cx="438912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Zawad Hossain</a:t>
            </a:r>
            <a:endParaRPr lang="en-US" sz="1300" dirty="0"/>
          </a:p>
        </p:txBody>
      </p:sp>
      <p:sp>
        <p:nvSpPr>
          <p:cNvPr id="14" name="Text 12"/>
          <p:cNvSpPr/>
          <p:nvPr/>
        </p:nvSpPr>
        <p:spPr>
          <a:xfrm>
            <a:off x="1234440" y="3840480"/>
            <a:ext cx="438912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Logging, monitoring, IoT design</a:t>
            </a:r>
            <a:endParaRPr lang="en-US" sz="1150" dirty="0"/>
          </a:p>
        </p:txBody>
      </p:sp>
      <p:sp>
        <p:nvSpPr>
          <p:cNvPr id="15" name="Shape 13"/>
          <p:cNvSpPr/>
          <p:nvPr/>
        </p:nvSpPr>
        <p:spPr>
          <a:xfrm>
            <a:off x="868680" y="4261104"/>
            <a:ext cx="237744" cy="237744"/>
          </a:xfrm>
          <a:prstGeom prst="ellipse">
            <a:avLst/>
          </a:prstGeom>
          <a:solidFill>
            <a:srgbClr val="1C7293"/>
          </a:solidFill>
          <a:ln/>
        </p:spPr>
      </p:sp>
      <p:sp>
        <p:nvSpPr>
          <p:cNvPr id="16" name="Text 14"/>
          <p:cNvSpPr/>
          <p:nvPr/>
        </p:nvSpPr>
        <p:spPr>
          <a:xfrm>
            <a:off x="1234440" y="4187952"/>
            <a:ext cx="4389120" cy="274320"/>
          </a:xfrm>
          <a:prstGeom prst="rect">
            <a:avLst/>
          </a:prstGeom>
          <a:noFill/>
          <a:ln/>
        </p:spPr>
        <p:txBody>
          <a:bodyPr wrap="square" lIns="0" tIns="0" rIns="0" bIns="0" rtlCol="0" anchor="ctr"/>
          <a:lstStyle/>
          <a:p>
            <a:pPr indent="0" marL="0">
              <a:buNone/>
            </a:pPr>
            <a:r>
              <a:rPr lang="en-US" sz="1300" b="1" dirty="0">
                <a:solidFill>
                  <a:srgbClr val="1B2430"/>
                </a:solidFill>
                <a:latin typeface="Calibri" pitchFamily="34" charset="0"/>
                <a:ea typeface="Calibri" pitchFamily="34" charset="-122"/>
                <a:cs typeface="Calibri" pitchFamily="34" charset="-120"/>
              </a:rPr>
              <a:t>Cinderella Akash Gill</a:t>
            </a:r>
            <a:endParaRPr lang="en-US" sz="1300" dirty="0"/>
          </a:p>
        </p:txBody>
      </p:sp>
      <p:sp>
        <p:nvSpPr>
          <p:cNvPr id="17" name="Text 15"/>
          <p:cNvSpPr/>
          <p:nvPr/>
        </p:nvSpPr>
        <p:spPr>
          <a:xfrm>
            <a:off x="1234440" y="4443984"/>
            <a:ext cx="4389120" cy="274320"/>
          </a:xfrm>
          <a:prstGeom prst="rect">
            <a:avLst/>
          </a:prstGeom>
          <a:noFill/>
          <a:ln/>
        </p:spPr>
        <p:txBody>
          <a:bodyPr wrap="square" lIns="0" tIns="0" rIns="0" bIns="0" rtlCol="0" anchor="ctr"/>
          <a:lstStyle/>
          <a:p>
            <a:pPr indent="0" marL="0">
              <a:buNone/>
            </a:pPr>
            <a:r>
              <a:rPr lang="en-US" sz="1150" dirty="0">
                <a:solidFill>
                  <a:srgbClr val="5B6B7A"/>
                </a:solidFill>
                <a:latin typeface="Calibri" pitchFamily="34" charset="0"/>
                <a:ea typeface="Calibri" pitchFamily="34" charset="-122"/>
                <a:cs typeface="Calibri" pitchFamily="34" charset="-120"/>
              </a:rPr>
              <a:t>Testing, security scans, documentation</a:t>
            </a:r>
            <a:endParaRPr lang="en-US" sz="1150" dirty="0"/>
          </a:p>
        </p:txBody>
      </p:sp>
      <p:sp>
        <p:nvSpPr>
          <p:cNvPr id="18" name="Shape 16"/>
          <p:cNvSpPr/>
          <p:nvPr/>
        </p:nvSpPr>
        <p:spPr>
          <a:xfrm>
            <a:off x="6217920" y="1691640"/>
            <a:ext cx="5394960" cy="3200400"/>
          </a:xfrm>
          <a:prstGeom prst="roundRect">
            <a:avLst>
              <a:gd name="adj" fmla="val 2286"/>
            </a:avLst>
          </a:prstGeom>
          <a:solidFill>
            <a:srgbClr val="F7FAFC"/>
          </a:solidFill>
          <a:ln w="12700">
            <a:solidFill>
              <a:srgbClr val="F7FAFC"/>
            </a:solidFill>
            <a:prstDash val="solid"/>
          </a:ln>
        </p:spPr>
      </p:sp>
      <p:sp>
        <p:nvSpPr>
          <p:cNvPr id="19" name="Text 17"/>
          <p:cNvSpPr/>
          <p:nvPr/>
        </p:nvSpPr>
        <p:spPr>
          <a:xfrm>
            <a:off x="6537960" y="1920240"/>
            <a:ext cx="4754880" cy="292608"/>
          </a:xfrm>
          <a:prstGeom prst="rect">
            <a:avLst/>
          </a:prstGeom>
          <a:noFill/>
          <a:ln/>
        </p:spPr>
        <p:txBody>
          <a:bodyPr wrap="square" lIns="0" tIns="0" rIns="0" bIns="0" rtlCol="0" anchor="ctr"/>
          <a:lstStyle/>
          <a:p>
            <a:pPr indent="0" marL="0">
              <a:buNone/>
            </a:pPr>
            <a:r>
              <a:rPr lang="en-US" sz="1500" b="1" dirty="0">
                <a:solidFill>
                  <a:srgbClr val="065A82"/>
                </a:solidFill>
                <a:latin typeface="Calibri" pitchFamily="34" charset="0"/>
                <a:ea typeface="Calibri" pitchFamily="34" charset="-122"/>
                <a:cs typeface="Calibri" pitchFamily="34" charset="-120"/>
              </a:rPr>
              <a:t>Ask us about</a:t>
            </a:r>
            <a:endParaRPr lang="en-US" sz="1500" dirty="0"/>
          </a:p>
        </p:txBody>
      </p:sp>
      <p:sp>
        <p:nvSpPr>
          <p:cNvPr id="20" name="Text 18"/>
          <p:cNvSpPr/>
          <p:nvPr/>
        </p:nvSpPr>
        <p:spPr>
          <a:xfrm>
            <a:off x="6537960" y="2377440"/>
            <a:ext cx="4754880" cy="2286000"/>
          </a:xfrm>
          <a:prstGeom prst="rect">
            <a:avLst/>
          </a:prstGeom>
          <a:noFill/>
          <a:ln/>
        </p:spPr>
        <p:txBody>
          <a:bodyPr wrap="square" lIns="0" tIns="0" rIns="0" bIns="0" rtlCol="0" anchor="ctr"/>
          <a:lstStyle/>
          <a:p>
            <a:pPr marL="342900" indent="-342900">
              <a:lnSpc>
                <a:spcPts val="17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Why we hash plaintext rather than ciphertext</a:t>
            </a:r>
            <a:endParaRPr lang="en-US" sz="1250" dirty="0"/>
          </a:p>
          <a:p>
            <a:pPr marL="342900" indent="-342900">
              <a:lnSpc>
                <a:spcPts val="17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Why encryption is delegated to KMS</a:t>
            </a:r>
            <a:endParaRPr lang="en-US" sz="1250" dirty="0"/>
          </a:p>
          <a:p>
            <a:pPr marL="342900" indent="-342900">
              <a:lnSpc>
                <a:spcPts val="17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How the per-record encryption context defeats blob swapping</a:t>
            </a:r>
            <a:endParaRPr lang="en-US" sz="1250" dirty="0"/>
          </a:p>
          <a:p>
            <a:pPr marL="342900" indent="-342900">
              <a:lnSpc>
                <a:spcPts val="1700"/>
              </a:lnSpc>
              <a:spcAft>
                <a:spcPts val="1000"/>
              </a:spcAft>
              <a:buSzPct val="100000"/>
              <a:buChar char="•"/>
            </a:pPr>
            <a:r>
              <a:rPr lang="en-US" sz="1250" dirty="0">
                <a:solidFill>
                  <a:srgbClr val="1B2430"/>
                </a:solidFill>
                <a:latin typeface="Calibri" pitchFamily="34" charset="0"/>
                <a:ea typeface="Calibri" pitchFamily="34" charset="-122"/>
                <a:cs typeface="Calibri" pitchFamily="34" charset="-120"/>
              </a:rPr>
              <a:t>What we would fix first with another week</a:t>
            </a:r>
            <a:endParaRPr lang="en-US" sz="1250" dirty="0"/>
          </a:p>
        </p:txBody>
      </p:sp>
      <p:sp>
        <p:nvSpPr>
          <p:cNvPr id="21" name="Text 19"/>
          <p:cNvSpPr/>
          <p:nvPr/>
        </p:nvSpPr>
        <p:spPr>
          <a:xfrm>
            <a:off x="548640" y="5166360"/>
            <a:ext cx="11064240" cy="365760"/>
          </a:xfrm>
          <a:prstGeom prst="rect">
            <a:avLst/>
          </a:prstGeom>
          <a:noFill/>
          <a:ln/>
        </p:spPr>
        <p:txBody>
          <a:bodyPr wrap="square" lIns="0" tIns="0" rIns="0" bIns="0" rtlCol="0" anchor="ctr"/>
          <a:lstStyle/>
          <a:p>
            <a:pPr algn="ctr" indent="0" marL="0">
              <a:buNone/>
            </a:pPr>
            <a:r>
              <a:rPr lang="en-US" sz="1300" dirty="0">
                <a:solidFill>
                  <a:srgbClr val="1C7293"/>
                </a:solidFill>
                <a:latin typeface="Courier New" pitchFamily="34" charset="0"/>
                <a:ea typeface="Courier New" pitchFamily="34" charset="-122"/>
                <a:cs typeface="Courier New" pitchFamily="34" charset="-120"/>
              </a:rPr>
              <a:t>github.com/malavmehta7101/securehealth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SecureHealth</dc:title>
  <dc:subject>PptxGenJS Presentation</dc:subject>
  <dc:creator>Malav Mehta, Robert Ruiz Villalta, Zawad Hossain, Cinderella Akash Gill</dc:creator>
  <cp:lastModifiedBy>Malav Mehta, Robert Ruiz Villalta, Zawad Hossain, Cinderella Akash Gill</cp:lastModifiedBy>
  <cp:revision>1</cp:revision>
  <dcterms:created xsi:type="dcterms:W3CDTF">2026-08-12T01:30:02Z</dcterms:created>
  <dcterms:modified xsi:type="dcterms:W3CDTF">2026-08-12T01:30:02Z</dcterms:modified>
</cp:coreProperties>
</file>